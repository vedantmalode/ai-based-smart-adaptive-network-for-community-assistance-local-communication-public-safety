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4ecb48e9d344a2" /><Relationship Type="http://schemas.openxmlformats.org/officeDocument/2006/relationships/extended-properties" Target="/docProps/app.xml" Id="Recb7d01e76b74c04" /><Relationship Type="http://schemas.openxmlformats.org/officeDocument/2006/relationships/officeDocument" Target="/ppt/presentation.xml" Id="R3d340aa4bba348e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25ba233fe9c4927"/>
  </p:sldMasterIdLst>
  <p:notesMasterIdLst>
    <p:notesMasterId xmlns:r="http://schemas.openxmlformats.org/officeDocument/2006/relationships" r:id="R4ec1e0a10b064aa1"/>
  </p:notesMasterIdLst>
  <p:sldIdLst>
    <p:sldId xmlns:r="http://schemas.openxmlformats.org/officeDocument/2006/relationships" id="256" r:id="Rf7fd7ff1c5774a9a"/>
    <p:sldId xmlns:r="http://schemas.openxmlformats.org/officeDocument/2006/relationships" id="257" r:id="Rdc32b11e20654a2f"/>
    <p:sldId xmlns:r="http://schemas.openxmlformats.org/officeDocument/2006/relationships" id="258" r:id="Raa506075bb8b47b4"/>
    <p:sldId xmlns:r="http://schemas.openxmlformats.org/officeDocument/2006/relationships" id="259" r:id="Rb00cf999da824a9d"/>
    <p:sldId xmlns:r="http://schemas.openxmlformats.org/officeDocument/2006/relationships" id="260" r:id="R418250cbe1594471"/>
    <p:sldId xmlns:r="http://schemas.openxmlformats.org/officeDocument/2006/relationships" id="261" r:id="R8bd9569bfab146ed"/>
    <p:sldId xmlns:r="http://schemas.openxmlformats.org/officeDocument/2006/relationships" id="262" r:id="Rfa567d2879f7482d"/>
    <p:sldId xmlns:r="http://schemas.openxmlformats.org/officeDocument/2006/relationships" id="263" r:id="Rf327b1d429e94988"/>
    <p:sldId xmlns:r="http://schemas.openxmlformats.org/officeDocument/2006/relationships" id="264" r:id="Rc724bdd0cfbe4d1d"/>
    <p:sldId xmlns:r="http://schemas.openxmlformats.org/officeDocument/2006/relationships" id="265" r:id="Raef9236429624816"/>
    <p:sldId xmlns:r="http://schemas.openxmlformats.org/officeDocument/2006/relationships" id="266" r:id="Rbc8590fa534c4ed5"/>
    <p:sldId xmlns:r="http://schemas.openxmlformats.org/officeDocument/2006/relationships" id="267" r:id="Re4f144b1bf1e400f"/>
    <p:sldId xmlns:r="http://schemas.openxmlformats.org/officeDocument/2006/relationships" id="268" r:id="Rc8122bc8dad3428b"/>
    <p:sldId xmlns:r="http://schemas.openxmlformats.org/officeDocument/2006/relationships" id="269" r:id="R0cc71014167c442c"/>
  </p:sldIdLst>
  <p:sldSz cx="9144000" cy="5143500"/>
  <p:notesSz cx="6858000" cy="9144000"/>
  <p:embeddedFontLst>
    <p:embeddedFont>
      <p:font typeface="Montserrat"/>
      <p:regular xmlns:r="http://schemas.openxmlformats.org/officeDocument/2006/relationships" r:id="Rb428ec60f0c0438b"/>
      <p:bold xmlns:r="http://schemas.openxmlformats.org/officeDocument/2006/relationships" r:id="R0375952034fe4c1f"/>
      <p:italic xmlns:r="http://schemas.openxmlformats.org/officeDocument/2006/relationships" r:id="Ra1da52b3c0f64eac"/>
      <p:boldItalic xmlns:r="http://schemas.openxmlformats.org/officeDocument/2006/relationships" r:id="R98dc5dcdf5df4bda"/>
    </p:embeddedFont>
    <p:embeddedFont>
      <p:font typeface="Roboto Mono"/>
      <p:regular xmlns:r="http://schemas.openxmlformats.org/officeDocument/2006/relationships" r:id="R0b95c2f388ca4113"/>
      <p:bold xmlns:r="http://schemas.openxmlformats.org/officeDocument/2006/relationships" r:id="Rbd0f454e5d824611"/>
      <p:italic xmlns:r="http://schemas.openxmlformats.org/officeDocument/2006/relationships" r:id="R66aecb99399f40fe"/>
      <p:boldItalic xmlns:r="http://schemas.openxmlformats.org/officeDocument/2006/relationships" r:id="R65e1f357bb5c4039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20307B0E-1C24-4BA2-8191-9E27D8327ACF}">
  <a:tblStyle styleId="{20307B0E-1C24-4BA2-8191-9E27D8327AC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A270B8EE-E738-40E2-BA1B-1580A0A2E2C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FFAB40">
              <a:alpha val="40000"/>
            </a:srgbClr>
          </a:solidFill>
        </a:fill>
      </a:tcStyle>
    </a:band1H>
    <a:band2H>
      <a:tcTxStyle b="off" i="off"/>
    </a:band2H>
    <a:band1V>
      <a:tcTxStyle b="off" i="off"/>
      <a:tcStyle>
        <a:tcBdr>
          <a:top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AB40">
              <a:alpha val="40000"/>
            </a:srgbClr>
          </a:solidFill>
        </a:fill>
      </a:tcStyle>
    </a:band1V>
    <a:band2V>
      <a:tcTxStyle b="off" i="off"/>
    </a:band2V>
    <a:lastCol>
      <a:tcTxStyle b="on" i="off"/>
      <a:tcStyle>
        <a:tcBdr>
          <a:lef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FFAB4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AB40"/>
          </a:solidFill>
        </a:fill>
      </a:tcStyle>
    </a:firstRow>
    <a:neCell>
      <a:tcTxStyle b="off" i="off"/>
    </a:neCell>
    <a:nwCell>
      <a:tcTxStyle b="off" i="off"/>
    </a:nwCell>
  </a:tblStyle>
  <a:tblStyle styleId="{855B57AB-33F6-4EFC-92FD-E4C6D41678EF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aacbea226a49dc" /><Relationship Type="http://schemas.openxmlformats.org/officeDocument/2006/relationships/slideMaster" Target="/ppt/slideMasters/slideMaster1.xml" Id="R325ba233fe9c4927" /><Relationship Type="http://schemas.openxmlformats.org/officeDocument/2006/relationships/notesMaster" Target="/ppt/notesMasters/notesMaster1.xml" Id="R4ec1e0a10b064aa1" /><Relationship Type="http://schemas.openxmlformats.org/officeDocument/2006/relationships/presProps" Target="/ppt/presProps.xml" Id="Rb7538ce255c84c5b" /><Relationship Type="http://schemas.openxmlformats.org/officeDocument/2006/relationships/viewProps" Target="/ppt/viewProps.xml" Id="R997ee516a3ef4983" /><Relationship Type="http://schemas.openxmlformats.org/officeDocument/2006/relationships/tableStyles" Target="/ppt/tableStyles.xml" Id="R455de7888a8a4dca" /><Relationship Type="http://schemas.openxmlformats.org/officeDocument/2006/relationships/font" Target="/ppt/fonts/font.dat" Id="Rb428ec60f0c0438b" /><Relationship Type="http://schemas.openxmlformats.org/officeDocument/2006/relationships/font" Target="/ppt/fonts/font2.dat" Id="R0375952034fe4c1f" /><Relationship Type="http://schemas.openxmlformats.org/officeDocument/2006/relationships/font" Target="/ppt/fonts/font3.dat" Id="Ra1da52b3c0f64eac" /><Relationship Type="http://schemas.openxmlformats.org/officeDocument/2006/relationships/font" Target="/ppt/fonts/font4.dat" Id="R98dc5dcdf5df4bda" /><Relationship Type="http://schemas.openxmlformats.org/officeDocument/2006/relationships/font" Target="/ppt/fonts/font5.dat" Id="R0b95c2f388ca4113" /><Relationship Type="http://schemas.openxmlformats.org/officeDocument/2006/relationships/font" Target="/ppt/fonts/font6.dat" Id="Rbd0f454e5d824611" /><Relationship Type="http://schemas.openxmlformats.org/officeDocument/2006/relationships/font" Target="/ppt/fonts/font7.dat" Id="R66aecb99399f40fe" /><Relationship Type="http://schemas.openxmlformats.org/officeDocument/2006/relationships/font" Target="/ppt/fonts/font8.dat" Id="R65e1f357bb5c4039" /><Relationship Type="http://schemas.openxmlformats.org/officeDocument/2006/relationships/slide" Target="/ppt/slides/slide1.xml" Id="Rf7fd7ff1c5774a9a" /><Relationship Type="http://schemas.openxmlformats.org/officeDocument/2006/relationships/slide" Target="/ppt/slides/slide2.xml" Id="Rdc32b11e20654a2f" /><Relationship Type="http://schemas.openxmlformats.org/officeDocument/2006/relationships/slide" Target="/ppt/slides/slide3.xml" Id="Raa506075bb8b47b4" /><Relationship Type="http://schemas.openxmlformats.org/officeDocument/2006/relationships/slide" Target="/ppt/slides/slide4.xml" Id="Rb00cf999da824a9d" /><Relationship Type="http://schemas.openxmlformats.org/officeDocument/2006/relationships/slide" Target="/ppt/slides/slide5.xml" Id="R418250cbe1594471" /><Relationship Type="http://schemas.openxmlformats.org/officeDocument/2006/relationships/slide" Target="/ppt/slides/slide6.xml" Id="R8bd9569bfab146ed" /><Relationship Type="http://schemas.openxmlformats.org/officeDocument/2006/relationships/slide" Target="/ppt/slides/slide7.xml" Id="Rfa567d2879f7482d" /><Relationship Type="http://schemas.openxmlformats.org/officeDocument/2006/relationships/slide" Target="/ppt/slides/slide8.xml" Id="Rf327b1d429e94988" /><Relationship Type="http://schemas.openxmlformats.org/officeDocument/2006/relationships/slide" Target="/ppt/slides/slide9.xml" Id="Rc724bdd0cfbe4d1d" /><Relationship Type="http://schemas.openxmlformats.org/officeDocument/2006/relationships/slide" Target="/ppt/slides/slide10.xml" Id="Raef9236429624816" /><Relationship Type="http://schemas.openxmlformats.org/officeDocument/2006/relationships/slide" Target="/ppt/slides/slide11.xml" Id="Rbc8590fa534c4ed5" /><Relationship Type="http://schemas.openxmlformats.org/officeDocument/2006/relationships/slide" Target="/ppt/slides/slide12.xml" Id="Re4f144b1bf1e400f" /><Relationship Type="http://schemas.openxmlformats.org/officeDocument/2006/relationships/slide" Target="/ppt/slides/slide13.xml" Id="Rc8122bc8dad3428b" /><Relationship Type="http://schemas.openxmlformats.org/officeDocument/2006/relationships/slide" Target="/ppt/slides/slide14.xml" Id="R0cc71014167c44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fdf1ce96f045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a049548dac41c7" /><Relationship Type="http://schemas.openxmlformats.org/officeDocument/2006/relationships/notesMaster" Target="/ppt/notesMasters/notesMaster1.xml" Id="R40fb5c30871e40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81cb7c7fbd4aa5" /><Relationship Type="http://schemas.openxmlformats.org/officeDocument/2006/relationships/notesMaster" Target="/ppt/notesMasters/notesMaster1.xml" Id="R4096b3bbdffb44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7c636d0f3742df" /><Relationship Type="http://schemas.openxmlformats.org/officeDocument/2006/relationships/notesMaster" Target="/ppt/notesMasters/notesMaster1.xml" Id="R293a8e02983547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f494c4fe954013" /><Relationship Type="http://schemas.openxmlformats.org/officeDocument/2006/relationships/notesMaster" Target="/ppt/notesMasters/notesMaster1.xml" Id="Rf0ce4dce9dd440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cf5c402d264395" /><Relationship Type="http://schemas.openxmlformats.org/officeDocument/2006/relationships/notesMaster" Target="/ppt/notesMasters/notesMaster1.xml" Id="R6a3b16634c9a40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ed308a71294211" /><Relationship Type="http://schemas.openxmlformats.org/officeDocument/2006/relationships/notesMaster" Target="/ppt/notesMasters/notesMaster1.xml" Id="Rf51c3ce69df04c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f1c60aac914614" /><Relationship Type="http://schemas.openxmlformats.org/officeDocument/2006/relationships/notesMaster" Target="/ppt/notesMasters/notesMaster1.xml" Id="R36bbf4f484da43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0cbc9c465247ee" /><Relationship Type="http://schemas.openxmlformats.org/officeDocument/2006/relationships/notesMaster" Target="/ppt/notesMasters/notesMaster1.xml" Id="Rd1792b16e39b4b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8bb3c614d74515" /><Relationship Type="http://schemas.openxmlformats.org/officeDocument/2006/relationships/notesMaster" Target="/ppt/notesMasters/notesMaster1.xml" Id="R03302e0f9f4244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fb2de8f7ba432d" /><Relationship Type="http://schemas.openxmlformats.org/officeDocument/2006/relationships/notesMaster" Target="/ppt/notesMasters/notesMaster1.xml" Id="R6e244848da324f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76fb028ef84737" /><Relationship Type="http://schemas.openxmlformats.org/officeDocument/2006/relationships/notesMaster" Target="/ppt/notesMasters/notesMaster1.xml" Id="R716fa55f780344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750c1018b645b4" /><Relationship Type="http://schemas.openxmlformats.org/officeDocument/2006/relationships/notesMaster" Target="/ppt/notesMasters/notesMaster1.xml" Id="R36150f0064624f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25143d30fd4561" /><Relationship Type="http://schemas.openxmlformats.org/officeDocument/2006/relationships/notesMaster" Target="/ppt/notesMasters/notesMaster1.xml" Id="R795344b150a347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05cee04c644592" /><Relationship Type="http://schemas.openxmlformats.org/officeDocument/2006/relationships/notesMaster" Target="/ppt/notesMasters/notesMaster1.xml" Id="R877aec8f053846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Introduce the project and the five team members. This project is a prototype for community emergency reporting and coordination.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This talk explains the problem, the proposed system, how it works, and what still needs testing.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Explain that reports can miss important details. Our goals are to collect useful information, show an explainable suggestion, and support human responders.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AIDR, CrisisMMD, and CrisisTransformers study crisis information, especially social media. Our project focuses on a structured local SOS workflow. It still needs evaluation.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Show that the AI only suggests. Management reviews the report and makes the dispatch decision. The project complements 112.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Follow the top row from the citizen report to management. The lower row shows offline and map tools. A BLE acknowledgement is not a server receipt.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Describe the tools used. The team roles are simple suggested assignments based on the project modules; the team can adjust them.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Walk through a report from entry to review and volunteer guidance. The first-aid assistant gives basic guidance and does not replace emergency services.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web build is complete, but no accuracy study or user trial result was supplied. Test BLE on real phones before making field claims.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Summarize what is connected in the prototype. The system is not a replacement for official emergency response, and BLE delivery has limits.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Sources: AIDR paper https://mimran.me/papers/imran_castillo_lucas_meier_vieweg_www2014.pdf ; CrisisMMD paper https://ojs.aaai.org/index.php/ICWSM/article/download/14983/14833/18502 ; CrisisTransformers https://arxiv.org/abs/2309.05494 ; React https://react.dev/learn/installation ; Leaflet https://leafletjs.com/reference-versions.html ; OSRM https://project-osrm.org/docs/v5.5.1/api/ ; IndexedDB https://developer.mozilla.org/en-US/docs/Web/API/IndexedDB_API/ ; Android BLE https://developer.android.com/develop/connectivity/bluetooth/ble/ble-overview?authuser=29 ; official 112 https://112.gov.in/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No research-paper, review-paper, copyright, or patent record was supplied for this presentation, so this slide does not claim 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These screenshots show the citizen report, volunteer route, and BLE demonstration screens. The relay demo is not proof of delivery to emergency services.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Thank the audience and invite questions.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23f77a6724b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157c2449d49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7cacecb0a49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39a38af7074a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a4638e88840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5ca7d3b8434e6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b648cc56f4a7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44f74b68d14fc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ff32dc479c45c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556d07b4d4760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14">
            <a:extLst xmlns:a="http://schemas.openxmlformats.org/drawingml/2006/main">
              <a:ext uri="{FF2B5EF4-FFF2-40B4-BE49-F238E27FC236}">
                <a16:creationId xmlns:a16="http://schemas.microsoft.com/office/drawing/2014/main" id="{B3A6BE1D-5940-4DFC-904A-33F7120A91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15">
            <a:extLst xmlns:a="http://schemas.openxmlformats.org/drawingml/2006/main">
              <a:ext uri="{FF2B5EF4-FFF2-40B4-BE49-F238E27FC236}">
                <a16:creationId xmlns:a16="http://schemas.microsoft.com/office/drawing/2014/main" id="{4C1E2B5E-3F4E-49CE-8B03-69F70A89374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5" name="Google Shape;15;p15">
            <a:extLst xmlns:a="http://schemas.openxmlformats.org/drawingml/2006/main">
              <a:ext uri="{FF2B5EF4-FFF2-40B4-BE49-F238E27FC236}">
                <a16:creationId xmlns:a16="http://schemas.microsoft.com/office/drawing/2014/main" id="{C027DCBF-8FD8-472E-8D37-CB399C0A86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6" name="Google Shape;16;p15">
            <a:extLst xmlns:a="http://schemas.openxmlformats.org/drawingml/2006/main">
              <a:ext uri="{FF2B5EF4-FFF2-40B4-BE49-F238E27FC236}">
                <a16:creationId xmlns:a16="http://schemas.microsoft.com/office/drawing/2014/main" id="{9050E28F-3712-4B0E-B346-A3206F629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16">
            <a:extLst xmlns:a="http://schemas.openxmlformats.org/drawingml/2006/main">
              <a:ext uri="{FF2B5EF4-FFF2-40B4-BE49-F238E27FC236}">
                <a16:creationId xmlns:a16="http://schemas.microsoft.com/office/drawing/2014/main" id="{EA8E1499-4E1F-4A15-92FA-E3E9F79279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9" name="Google Shape;19;p16">
            <a:extLst xmlns:a="http://schemas.openxmlformats.org/drawingml/2006/main">
              <a:ext uri="{FF2B5EF4-FFF2-40B4-BE49-F238E27FC236}">
                <a16:creationId xmlns:a16="http://schemas.microsoft.com/office/drawing/2014/main" id="{D3B9DA24-56E6-4CED-B2CB-318E5AB932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17">
            <a:extLst xmlns:a="http://schemas.openxmlformats.org/drawingml/2006/main">
              <a:ext uri="{FF2B5EF4-FFF2-40B4-BE49-F238E27FC236}">
                <a16:creationId xmlns:a16="http://schemas.microsoft.com/office/drawing/2014/main" id="{59C52370-42C8-49BB-A86D-62E8B0BF0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17">
            <a:extLst xmlns:a="http://schemas.openxmlformats.org/drawingml/2006/main">
              <a:ext uri="{FF2B5EF4-FFF2-40B4-BE49-F238E27FC236}">
                <a16:creationId xmlns:a16="http://schemas.microsoft.com/office/drawing/2014/main" id="{B392F71A-E9B7-4966-A715-18969F21C2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17">
            <a:extLst xmlns:a="http://schemas.openxmlformats.org/drawingml/2006/main">
              <a:ext uri="{FF2B5EF4-FFF2-40B4-BE49-F238E27FC236}">
                <a16:creationId xmlns:a16="http://schemas.microsoft.com/office/drawing/2014/main" id="{C94C2C65-D21C-4B99-B1D3-426E809D95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17">
            <a:extLst xmlns:a="http://schemas.openxmlformats.org/drawingml/2006/main">
              <a:ext uri="{FF2B5EF4-FFF2-40B4-BE49-F238E27FC236}">
                <a16:creationId xmlns:a16="http://schemas.microsoft.com/office/drawing/2014/main" id="{CE6C0B15-1392-494B-B42B-1937D5A4BF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18">
            <a:extLst xmlns:a="http://schemas.openxmlformats.org/drawingml/2006/main">
              <a:ext uri="{FF2B5EF4-FFF2-40B4-BE49-F238E27FC236}">
                <a16:creationId xmlns:a16="http://schemas.microsoft.com/office/drawing/2014/main" id="{BF6587DC-91FB-446C-BDE2-8B18325808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18">
            <a:extLst xmlns:a="http://schemas.openxmlformats.org/drawingml/2006/main">
              <a:ext uri="{FF2B5EF4-FFF2-40B4-BE49-F238E27FC236}">
                <a16:creationId xmlns:a16="http://schemas.microsoft.com/office/drawing/2014/main" id="{9F58FBCB-1F18-42DD-9508-F1E319F1D5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9">
            <a:extLst xmlns:a="http://schemas.openxmlformats.org/drawingml/2006/main">
              <a:ext uri="{FF2B5EF4-FFF2-40B4-BE49-F238E27FC236}">
                <a16:creationId xmlns:a16="http://schemas.microsoft.com/office/drawing/2014/main" id="{D59DC33F-BCB2-4249-B85F-CBBDE4F7AB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19">
            <a:extLst xmlns:a="http://schemas.openxmlformats.org/drawingml/2006/main">
              <a:ext uri="{FF2B5EF4-FFF2-40B4-BE49-F238E27FC236}">
                <a16:creationId xmlns:a16="http://schemas.microsoft.com/office/drawing/2014/main" id="{D0CE3127-76A1-40C0-AE46-201E3319AE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19">
            <a:extLst xmlns:a="http://schemas.openxmlformats.org/drawingml/2006/main">
              <a:ext uri="{FF2B5EF4-FFF2-40B4-BE49-F238E27FC236}">
                <a16:creationId xmlns:a16="http://schemas.microsoft.com/office/drawing/2014/main" id="{91BCA831-E9C4-4631-A7F8-C436590137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20">
            <a:extLst xmlns:a="http://schemas.openxmlformats.org/drawingml/2006/main">
              <a:ext uri="{FF2B5EF4-FFF2-40B4-BE49-F238E27FC236}">
                <a16:creationId xmlns:a16="http://schemas.microsoft.com/office/drawing/2014/main" id="{18264324-7FFC-4803-B5A4-638B28F520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20">
            <a:extLst xmlns:a="http://schemas.openxmlformats.org/drawingml/2006/main">
              <a:ext uri="{FF2B5EF4-FFF2-40B4-BE49-F238E27FC236}">
                <a16:creationId xmlns:a16="http://schemas.microsoft.com/office/drawing/2014/main" id="{F699F180-AAEE-4957-9ABB-D530557638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21">
            <a:extLst xmlns:a="http://schemas.openxmlformats.org/drawingml/2006/main">
              <a:ext uri="{FF2B5EF4-FFF2-40B4-BE49-F238E27FC236}">
                <a16:creationId xmlns:a16="http://schemas.microsoft.com/office/drawing/2014/main" id="{26724489-480E-48A2-8A18-4977E961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21">
            <a:extLst xmlns:a="http://schemas.openxmlformats.org/drawingml/2006/main">
              <a:ext uri="{FF2B5EF4-FFF2-40B4-BE49-F238E27FC236}">
                <a16:creationId xmlns:a16="http://schemas.microsoft.com/office/drawing/2014/main" id="{4473DF49-18D3-4747-8B65-D60B4519B4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21">
            <a:extLst xmlns:a="http://schemas.openxmlformats.org/drawingml/2006/main">
              <a:ext uri="{FF2B5EF4-FFF2-40B4-BE49-F238E27FC236}">
                <a16:creationId xmlns:a16="http://schemas.microsoft.com/office/drawing/2014/main" id="{E71B87D6-1C1A-4ECE-80D3-F2DD022CC7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21">
            <a:extLst xmlns:a="http://schemas.openxmlformats.org/drawingml/2006/main">
              <a:ext uri="{FF2B5EF4-FFF2-40B4-BE49-F238E27FC236}">
                <a16:creationId xmlns:a16="http://schemas.microsoft.com/office/drawing/2014/main" id="{B527F466-BF99-40BE-B6F8-D314F0E269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21">
            <a:extLst xmlns:a="http://schemas.openxmlformats.org/drawingml/2006/main">
              <a:ext uri="{FF2B5EF4-FFF2-40B4-BE49-F238E27FC236}">
                <a16:creationId xmlns:a16="http://schemas.microsoft.com/office/drawing/2014/main" id="{2430D6E6-6014-4137-B09F-AC0721A876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22">
            <a:extLst xmlns:a="http://schemas.openxmlformats.org/drawingml/2006/main">
              <a:ext uri="{FF2B5EF4-FFF2-40B4-BE49-F238E27FC236}">
                <a16:creationId xmlns:a16="http://schemas.microsoft.com/office/drawing/2014/main" id="{07BF719A-8D4F-4B53-A78D-1F39615E61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22">
            <a:extLst xmlns:a="http://schemas.openxmlformats.org/drawingml/2006/main">
              <a:ext uri="{FF2B5EF4-FFF2-40B4-BE49-F238E27FC236}">
                <a16:creationId xmlns:a16="http://schemas.microsoft.com/office/drawing/2014/main" id="{21300710-85CE-4437-8FA6-12FDD26261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23">
            <a:extLst xmlns:a="http://schemas.openxmlformats.org/drawingml/2006/main">
              <a:ext uri="{FF2B5EF4-FFF2-40B4-BE49-F238E27FC236}">
                <a16:creationId xmlns:a16="http://schemas.microsoft.com/office/drawing/2014/main" id="{B1A3F8C6-B2D1-432A-9C6B-6DE351323E3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23">
            <a:extLst xmlns:a="http://schemas.openxmlformats.org/drawingml/2006/main">
              <a:ext uri="{FF2B5EF4-FFF2-40B4-BE49-F238E27FC236}">
                <a16:creationId xmlns:a16="http://schemas.microsoft.com/office/drawing/2014/main" id="{CC8DC31B-F470-48B3-A9B1-6397E1EF4A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23">
            <a:extLst xmlns:a="http://schemas.openxmlformats.org/drawingml/2006/main">
              <a:ext uri="{FF2B5EF4-FFF2-40B4-BE49-F238E27FC236}">
                <a16:creationId xmlns:a16="http://schemas.microsoft.com/office/drawing/2014/main" id="{1A481BB7-A9FB-467B-A384-024DB49426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bbc6071e3c3a4c44" /><Relationship Type="http://schemas.openxmlformats.org/officeDocument/2006/relationships/image" Target="/ppt/media/image.png" Id="R720899243d5744c4" /><Relationship Type="http://schemas.openxmlformats.org/officeDocument/2006/relationships/theme" Target="/ppt/slideMasters/theme/theme2.xml" Id="R59e5094760a4420a" /><Relationship Type="http://schemas.openxmlformats.org/officeDocument/2006/relationships/slideLayout" Target="/ppt/slideLayouts/slideLayout1.xml" Id="Rf1f9920080104589" /><Relationship Type="http://schemas.openxmlformats.org/officeDocument/2006/relationships/slideLayout" Target="/ppt/slideLayouts/slideLayout2.xml" Id="R5c3accef6d444aeb" /><Relationship Type="http://schemas.openxmlformats.org/officeDocument/2006/relationships/slideLayout" Target="/ppt/slideLayouts/slideLayout3.xml" Id="R917aebbd7d054542" /><Relationship Type="http://schemas.openxmlformats.org/officeDocument/2006/relationships/slideLayout" Target="/ppt/slideLayouts/slideLayout4.xml" Id="R198fc2206a8d45c4" /><Relationship Type="http://schemas.openxmlformats.org/officeDocument/2006/relationships/slideLayout" Target="/ppt/slideLayouts/slideLayout5.xml" Id="Rd83c4a47cb1d43c8" /><Relationship Type="http://schemas.openxmlformats.org/officeDocument/2006/relationships/slideLayout" Target="/ppt/slideLayouts/slideLayout6.xml" Id="Rbd4e658c5f8a42fd" /><Relationship Type="http://schemas.openxmlformats.org/officeDocument/2006/relationships/slideLayout" Target="/ppt/slideLayouts/slideLayout7.xml" Id="Rab73cb367efe464d" /><Relationship Type="http://schemas.openxmlformats.org/officeDocument/2006/relationships/slideLayout" Target="/ppt/slideLayouts/slideLayout8.xml" Id="R8021883291c94799" /><Relationship Type="http://schemas.openxmlformats.org/officeDocument/2006/relationships/slideLayout" Target="/ppt/slideLayouts/slideLayout9.xml" Id="Rb834e12b801745da" /><Relationship Type="http://schemas.openxmlformats.org/officeDocument/2006/relationships/slideLayout" Target="/ppt/slideLayouts/slideLayout10.xml" Id="R21b4106408a34c7c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3">
            <a:extLst xmlns:a="http://schemas.openxmlformats.org/drawingml/2006/main">
              <a:ext uri="{FF2B5EF4-FFF2-40B4-BE49-F238E27FC236}">
                <a16:creationId xmlns:a16="http://schemas.microsoft.com/office/drawing/2014/main" id="{BE210325-8DE3-4758-A5FE-05CA0ED07C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13">
            <a:extLst xmlns:a="http://schemas.openxmlformats.org/drawingml/2006/main">
              <a:ext uri="{FF2B5EF4-FFF2-40B4-BE49-F238E27FC236}">
                <a16:creationId xmlns:a16="http://schemas.microsoft.com/office/drawing/2014/main" id="{E46468DC-CABB-4BD7-B499-0C1A43BD21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Google Shape;8;p13">
            <a:extLst xmlns:a="http://schemas.openxmlformats.org/drawingml/2006/main">
              <a:ext uri="{FF2B5EF4-FFF2-40B4-BE49-F238E27FC236}">
                <a16:creationId xmlns:a16="http://schemas.microsoft.com/office/drawing/2014/main" id="{539DFD86-3263-4573-AAED-3034038048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9" name="Google Shape;9;p13">
            <a:extLst xmlns:a="http://schemas.openxmlformats.org/drawingml/2006/main">
              <a:ext uri="{FF2B5EF4-FFF2-40B4-BE49-F238E27FC236}">
                <a16:creationId xmlns:a16="http://schemas.microsoft.com/office/drawing/2014/main" id="{BC87E20D-CBDB-4631-82B7-069FED9986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c6071e3c3a4c44">
            <a:alphaModFix/>
          </a:blip>
          <a:srcRect xmlns:a="http://schemas.openxmlformats.org/drawingml/2006/main" l="0" t="96296" r="0" b="0"/>
          <a:stretch xmlns:a="http://schemas.openxmlformats.org/drawingml/2006/main"/>
        </p:blipFill>
        <p:spPr>
          <a:xfrm xmlns:a="http://schemas.openxmlformats.org/drawingml/2006/main">
            <a:off x="0" y="4957011"/>
            <a:ext cx="9144000" cy="19414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" name="Google Shape;10;p13">
            <a:extLst xmlns:a="http://schemas.openxmlformats.org/drawingml/2006/main">
              <a:ext uri="{FF2B5EF4-FFF2-40B4-BE49-F238E27FC236}">
                <a16:creationId xmlns:a16="http://schemas.microsoft.com/office/drawing/2014/main" id="{A5733DC9-CEB9-445E-A929-32F7894568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0899243d5744c4">
            <a:alphaModFix/>
          </a:blip>
          <a:srcRect xmlns:a="http://schemas.openxmlformats.org/drawingml/2006/main" l="11111" t="9880" r="10219" b="13313"/>
          <a:stretch xmlns:a="http://schemas.openxmlformats.org/drawingml/2006/main"/>
        </p:blipFill>
        <p:spPr>
          <a:xfrm xmlns:a="http://schemas.openxmlformats.org/drawingml/2006/main">
            <a:off x="7125810" y="79218"/>
            <a:ext cx="1887248" cy="79134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f9920080104589"/>
    <p:sldLayoutId xmlns:r="http://schemas.openxmlformats.org/officeDocument/2006/relationships" id="2147483650" r:id="R5c3accef6d444aeb"/>
    <p:sldLayoutId xmlns:r="http://schemas.openxmlformats.org/officeDocument/2006/relationships" id="2147483651" r:id="R917aebbd7d054542"/>
    <p:sldLayoutId xmlns:r="http://schemas.openxmlformats.org/officeDocument/2006/relationships" id="2147483652" r:id="R198fc2206a8d45c4"/>
    <p:sldLayoutId xmlns:r="http://schemas.openxmlformats.org/officeDocument/2006/relationships" id="2147483653" r:id="Rd83c4a47cb1d43c8"/>
    <p:sldLayoutId xmlns:r="http://schemas.openxmlformats.org/officeDocument/2006/relationships" id="2147483654" r:id="Rbd4e658c5f8a42fd"/>
    <p:sldLayoutId xmlns:r="http://schemas.openxmlformats.org/officeDocument/2006/relationships" id="2147483655" r:id="Rab73cb367efe464d"/>
    <p:sldLayoutId xmlns:r="http://schemas.openxmlformats.org/officeDocument/2006/relationships" id="2147483656" r:id="R8021883291c94799"/>
    <p:sldLayoutId xmlns:r="http://schemas.openxmlformats.org/officeDocument/2006/relationships" id="2147483657" r:id="Rb834e12b801745da"/>
    <p:sldLayoutId xmlns:r="http://schemas.openxmlformats.org/officeDocument/2006/relationships" id="2147483658" r:id="R21b4106408a34c7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4d77e636242e3" /><Relationship Type="http://schemas.openxmlformats.org/officeDocument/2006/relationships/image" Target="/ppt/media/image2.jpeg" Id="R650fca4654624adc" /><Relationship Type="http://schemas.openxmlformats.org/officeDocument/2006/relationships/notesSlide" Target="/ppt/notesSlides/notesSlide1.xml" Id="R39f442eabb7744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aaa2d5a4344d5" /><Relationship Type="http://schemas.openxmlformats.org/officeDocument/2006/relationships/image" Target="/ppt/media/image3.jpeg" Id="Rd1e73e07b5854b9a" /><Relationship Type="http://schemas.openxmlformats.org/officeDocument/2006/relationships/notesSlide" Target="/ppt/notesSlides/notesSlide2.xml" Id="Ra5da68a5569044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76eac8d344928" /><Relationship Type="http://schemas.openxmlformats.org/officeDocument/2006/relationships/image" Target="/ppt/media/image3.jpeg" Id="R9bd2d59fa9e348c0" /><Relationship Type="http://schemas.openxmlformats.org/officeDocument/2006/relationships/notesSlide" Target="/ppt/notesSlides/notesSlide3.xml" Id="R2d440eb84de54f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1cfe0eacc466f" /><Relationship Type="http://schemas.openxmlformats.org/officeDocument/2006/relationships/image" Target="/ppt/media/image3.jpeg" Id="R07cb31556d174b8c" /><Relationship Type="http://schemas.openxmlformats.org/officeDocument/2006/relationships/notesSlide" Target="/ppt/notesSlides/notesSlide4.xml" Id="R20082d6a01c745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f2f682fa34202" /><Relationship Type="http://schemas.openxmlformats.org/officeDocument/2006/relationships/image" Target="/ppt/media/image3.jpeg" Id="R8e46193aefd04cfe" /><Relationship Type="http://schemas.openxmlformats.org/officeDocument/2006/relationships/notesSlide" Target="/ppt/notesSlides/notesSlide5.xml" Id="R0891e37db09644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8aaeb83284d6e" /><Relationship Type="http://schemas.openxmlformats.org/officeDocument/2006/relationships/image" Target="/ppt/media/image3.jpeg" Id="Rf538255dcbe64aae" /><Relationship Type="http://schemas.openxmlformats.org/officeDocument/2006/relationships/notesSlide" Target="/ppt/notesSlides/notesSlide6.xml" Id="R00c7f944ba1d4c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8bbea08244e9e" /><Relationship Type="http://schemas.openxmlformats.org/officeDocument/2006/relationships/image" Target="/ppt/media/image3.jpeg" Id="R97e31ef7ec184ea7" /><Relationship Type="http://schemas.openxmlformats.org/officeDocument/2006/relationships/notesSlide" Target="/ppt/notesSlides/notesSlide7.xml" Id="Rb905274dc80745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60733344d4c65" /><Relationship Type="http://schemas.openxmlformats.org/officeDocument/2006/relationships/image" Target="/ppt/media/image3.jpeg" Id="Rb510faf4e50f4a44" /><Relationship Type="http://schemas.openxmlformats.org/officeDocument/2006/relationships/notesSlide" Target="/ppt/notesSlides/notesSlide8.xml" Id="R5c982bc06e4340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3354d732e4796" /><Relationship Type="http://schemas.openxmlformats.org/officeDocument/2006/relationships/image" Target="/ppt/media/image3.jpeg" Id="Re0603e7a2e5d4a65" /><Relationship Type="http://schemas.openxmlformats.org/officeDocument/2006/relationships/notesSlide" Target="/ppt/notesSlides/notesSlide9.xml" Id="R8fee840f6f204b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020c701284cc7" /><Relationship Type="http://schemas.openxmlformats.org/officeDocument/2006/relationships/image" Target="/ppt/media/image3.jpeg" Id="Re543ae39bc1b4c05" /><Relationship Type="http://schemas.openxmlformats.org/officeDocument/2006/relationships/notesSlide" Target="/ppt/notesSlides/notesSlide10.xml" Id="Rb584d891c9424d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45a6b89cc4ad3" /><Relationship Type="http://schemas.openxmlformats.org/officeDocument/2006/relationships/image" Target="/ppt/media/image3.jpeg" Id="Rbb5149839ffa496f" /><Relationship Type="http://schemas.openxmlformats.org/officeDocument/2006/relationships/notesSlide" Target="/ppt/notesSlides/notesSlide11.xml" Id="R126aa577594f41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fae31700140e1" /><Relationship Type="http://schemas.openxmlformats.org/officeDocument/2006/relationships/image" Target="/ppt/media/image3.jpeg" Id="R97365c71d286491e" /><Relationship Type="http://schemas.openxmlformats.org/officeDocument/2006/relationships/notesSlide" Target="/ppt/notesSlides/notesSlide12.xml" Id="Rf3481e4ea9a84f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8a08b226f45c5" /><Relationship Type="http://schemas.openxmlformats.org/officeDocument/2006/relationships/image" Target="/ppt/media/image3.jpeg" Id="R07c9abafc5fe4431" /><Relationship Type="http://schemas.openxmlformats.org/officeDocument/2006/relationships/image" Target="/ppt/media/image2.png" Id="Rbc66378617524c32" /><Relationship Type="http://schemas.openxmlformats.org/officeDocument/2006/relationships/image" Target="/ppt/media/image3.png" Id="Rf180f26d2eff40c1" /><Relationship Type="http://schemas.openxmlformats.org/officeDocument/2006/relationships/image" Target="/ppt/media/image4.png" Id="Rc685bb99c5fc42b2" /><Relationship Type="http://schemas.openxmlformats.org/officeDocument/2006/relationships/notesSlide" Target="/ppt/notesSlides/notesSlide13.xml" Id="R9380fc3793fd49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9b54824e5348b0" /><Relationship Type="http://schemas.openxmlformats.org/officeDocument/2006/relationships/image" Target="/ppt/media/image3.jpeg" Id="Rf0a71b7965e34093" /><Relationship Type="http://schemas.openxmlformats.org/officeDocument/2006/relationships/notesSlide" Target="/ppt/notesSlides/notesSlide14.xml" Id="Rfcd9b9518fd24a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Google Shape;52;p1">
            <a:extLst xmlns:a="http://schemas.openxmlformats.org/drawingml/2006/main">
              <a:ext uri="{FF2B5EF4-FFF2-40B4-BE49-F238E27FC236}">
                <a16:creationId xmlns:a16="http://schemas.microsoft.com/office/drawing/2014/main" id="{15A22222-2D1D-41E9-BC62-8398483A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6175"/>
            <a:ext cx="9144000" cy="2194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725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  <a:endParaRPr sz="2400" b="0" i="0" u="sng" strike="noStrike" cap="none">
              <a:solidFill>
                <a:srgbClr val="7C00A5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725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 u="sng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Major Project Progress Seminar-I</a:t>
            </a:r>
            <a:endParaRPr sz="2400" b="0" i="0" u="none" strike="noStrike" cap="none">
              <a:solidFill>
                <a:srgbClr val="7C00A5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725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AI-Based – Smart Adaptive Network for Community Assistance, Local Communication &amp; Public Safety</a:t>
            </a:r>
            <a:endParaRPr sz="2000" b="1" i="0" u="none" strike="noStrike" cap="none">
              <a:solidFill>
                <a:srgbClr val="7030A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725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Group-24: AYUSH KATHOTE</a:t>
            </a:r>
            <a:endParaRPr sz="2000" b="1" i="0" u="none" strike="noStrike" cap="none">
              <a:solidFill>
                <a:srgbClr val="7030A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25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Sarthak Mahore | Pruthviraj Gawande | Taha Saifee | Vedant Malode</a:t>
            </a:r>
            <a:endParaRPr sz="1700" b="1" i="0" u="none" strike="noStrike" cap="none">
              <a:solidFill>
                <a:srgbClr val="7030A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725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Project Guide – Prof. Mohammad Sajid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725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 u="none" strike="noStrike" cap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Session: 2026–2027</a:t>
            </a:r>
            <a:endParaRPr sz="1900" b="0" i="0" u="sng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" name="Google Shape;53;p1">
            <a:extLst xmlns:a="http://schemas.openxmlformats.org/drawingml/2006/main">
              <a:ext uri="{FF2B5EF4-FFF2-40B4-BE49-F238E27FC236}">
                <a16:creationId xmlns:a16="http://schemas.microsoft.com/office/drawing/2014/main" id="{1D4766B2-2DC0-4375-9A38-314397B3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3900"/>
            <a:ext cx="2085600" cy="6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Incharge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Prof. Tejas Dhule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Google Shape;54;p1">
            <a:extLst xmlns:a="http://schemas.openxmlformats.org/drawingml/2006/main">
              <a:ext uri="{FF2B5EF4-FFF2-40B4-BE49-F238E27FC236}">
                <a16:creationId xmlns:a16="http://schemas.microsoft.com/office/drawing/2014/main" id="{E9B3F6B6-BCED-4A12-B554-FCB05AF1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575" y="4256050"/>
            <a:ext cx="1241400" cy="5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defPPr algn="r">
              <a:defRPr sz="1500"/>
            </a:defPPr>
          </a:lstStyle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HoD</a:t>
            </a:r>
            <a:endParaRPr sz="1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Dr. S. Zade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5" name="Google Shape;55;p1">
            <a:extLst xmlns:a="http://schemas.openxmlformats.org/drawingml/2006/main">
              <a:ext uri="{FF2B5EF4-FFF2-40B4-BE49-F238E27FC236}">
                <a16:creationId xmlns:a16="http://schemas.microsoft.com/office/drawing/2014/main" id="{98AA37C3-A5CD-4E74-ACF0-844645AFB6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0fca4654624ad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50545" cy="209620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1835175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Google Shape;60;p2">
            <a:extLst xmlns:a="http://schemas.openxmlformats.org/drawingml/2006/main">
              <a:ext uri="{FF2B5EF4-FFF2-40B4-BE49-F238E27FC236}">
                <a16:creationId xmlns:a16="http://schemas.microsoft.com/office/drawing/2014/main" id="{235FFF13-71E8-4AE6-A45C-B55C1BA688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e73e07b5854b9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1" name="Google Shape;61;p2">
            <a:extLst xmlns:a="http://schemas.openxmlformats.org/drawingml/2006/main">
              <a:ext uri="{FF2B5EF4-FFF2-40B4-BE49-F238E27FC236}">
                <a16:creationId xmlns:a16="http://schemas.microsoft.com/office/drawing/2014/main" id="{83BEC5A2-4B50-4D24-9987-0D640A36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Google Shape;62;p2">
            <a:extLst xmlns:a="http://schemas.openxmlformats.org/drawingml/2006/main">
              <a:ext uri="{FF2B5EF4-FFF2-40B4-BE49-F238E27FC236}">
                <a16:creationId xmlns:a16="http://schemas.microsoft.com/office/drawing/2014/main" id="{B32D1834-17B8-49FB-9AA6-A53EEC26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Google Shape;63;p2">
            <a:extLst xmlns:a="http://schemas.openxmlformats.org/drawingml/2006/main">
              <a:ext uri="{FF2B5EF4-FFF2-40B4-BE49-F238E27FC236}">
                <a16:creationId xmlns:a16="http://schemas.microsoft.com/office/drawing/2014/main" id="{DCD73559-2B67-4AC2-8701-E3371E2C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Google Shape;64;p2">
            <a:extLst xmlns:a="http://schemas.openxmlformats.org/drawingml/2006/main">
              <a:ext uri="{FF2B5EF4-FFF2-40B4-BE49-F238E27FC236}">
                <a16:creationId xmlns:a16="http://schemas.microsoft.com/office/drawing/2014/main" id="{CB3A48DE-647D-4CDC-894C-D25A81C3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81"/>
            <a:ext cx="4372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Presentation Outline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65" name="Google Shape;65;p2">
            <a:extLst xmlns:a="http://schemas.openxmlformats.org/drawingml/2006/main">
              <a:ext uri="{FF2B5EF4-FFF2-40B4-BE49-F238E27FC236}">
                <a16:creationId xmlns:a16="http://schemas.microsoft.com/office/drawing/2014/main" id="{10C9CE34-3B82-48DF-96BE-8ECB5DEB31A6}"/>
              </a:ext>
            </a:extLst>
          </p:cNvPr>
          <p:cNvGraphicFramePr/>
          <p:nvPr/>
        </p:nvGraphicFramePr>
        <p:xfrm>
          <a:off xmlns:a="http://schemas.openxmlformats.org/drawingml/2006/main" x="256525" y="821863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{20307B0E-1C24-4BA2-8191-9E27D8327ACF}</a:tableStyleId>
              </a:tblPr>
              <a:tblGrid>
                <a:gridCol w="7789000"/>
                <a:gridCol w="841950"/>
              </a:tblGrid>
              <a:tr h="39158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5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 PROBLEM STATEMENT &amp; OBJECTIVES</a:t>
                      </a:r>
                      <a:endParaRPr sz="1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500">
                          <a:latin typeface="Times New Roman"/>
                          <a:ea typeface="Times New Roman"/>
                          <a:cs typeface="Times New Roman"/>
                        </a:rPr>
                        <a:t>4. LITERATURE SURVEY &amp; RESEARCH GAP</a:t>
                      </a:r>
                      <a:endParaRPr sz="1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5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 PROPOSED SOLUTION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500">
                          <a:latin typeface="Times New Roman"/>
                          <a:ea typeface="Times New Roman"/>
                          <a:cs typeface="Times New Roman"/>
                        </a:rPr>
                        <a:t>6. SYSTEM ARCHITECTURE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500">
                          <a:latin typeface="Times New Roman"/>
                          <a:ea typeface="Times New Roman"/>
                          <a:cs typeface="Times New Roman"/>
                        </a:rPr>
                        <a:t>7. TECHNOLOGY STACK &amp; TEAM ROLES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500">
                          <a:latin typeface="Times New Roman"/>
                          <a:ea typeface="Times New Roman"/>
                          <a:cs typeface="Times New Roman"/>
                        </a:rPr>
                        <a:t>8. HOW THE SYSTEM WORKS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500">
                          <a:latin typeface="Times New Roman"/>
                          <a:ea typeface="Times New Roman"/>
                          <a:cs typeface="Times New Roman"/>
                        </a:rPr>
                        <a:t>9. TESTING &amp; VALIDATION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500">
                          <a:latin typeface="Times New Roman"/>
                          <a:ea typeface="Times New Roman"/>
                          <a:cs typeface="Times New Roman"/>
                        </a:rPr>
                        <a:t>10. RESULTS &amp; CONCLUSION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500">
                          <a:latin typeface="Times New Roman"/>
                          <a:ea typeface="Times New Roman"/>
                          <a:cs typeface="Times New Roman"/>
                        </a:rPr>
                        <a:t>11. REFERENCES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 RESEARCH STATUS, SCREENSHOTS &amp; THANK YOU (SLIDES 12–14)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2857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2857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2857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2857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sz="1350"/>
                        <a:t/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2857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15846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" name="Google Shape;70;g3fb0fc850ca_0_8">
            <a:extLst xmlns:a="http://schemas.openxmlformats.org/drawingml/2006/main">
              <a:ext uri="{FF2B5EF4-FFF2-40B4-BE49-F238E27FC236}">
                <a16:creationId xmlns:a16="http://schemas.microsoft.com/office/drawing/2014/main" id="{B9C19F09-D4E8-4A26-B072-3EBBFB6998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d2d59fa9e348c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1" name="Google Shape;71;g3fb0fc850ca_0_8">
            <a:extLst xmlns:a="http://schemas.openxmlformats.org/drawingml/2006/main">
              <a:ext uri="{FF2B5EF4-FFF2-40B4-BE49-F238E27FC236}">
                <a16:creationId xmlns:a16="http://schemas.microsoft.com/office/drawing/2014/main" id="{7E0D66C8-EC10-458E-AFAF-C8BFF70C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Google Shape;72;g3fb0fc850ca_0_8">
            <a:extLst xmlns:a="http://schemas.openxmlformats.org/drawingml/2006/main">
              <a:ext uri="{FF2B5EF4-FFF2-40B4-BE49-F238E27FC236}">
                <a16:creationId xmlns:a16="http://schemas.microsoft.com/office/drawing/2014/main" id="{093DD89F-F66A-40AE-91F7-247794D3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Google Shape;73;g3fb0fc850ca_0_8">
            <a:extLst xmlns:a="http://schemas.openxmlformats.org/drawingml/2006/main">
              <a:ext uri="{FF2B5EF4-FFF2-40B4-BE49-F238E27FC236}">
                <a16:creationId xmlns:a16="http://schemas.microsoft.com/office/drawing/2014/main" id="{63F8C811-32F1-4E8F-B45A-0398382C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56433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Problem Statement &amp; Objectives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4" name="Google Shape;74;g3fb0fc850ca_0_8">
            <a:extLst xmlns:a="http://schemas.openxmlformats.org/drawingml/2006/main">
              <a:ext uri="{FF2B5EF4-FFF2-40B4-BE49-F238E27FC236}">
                <a16:creationId xmlns:a16="http://schemas.microsoft.com/office/drawing/2014/main" id="{8FA59246-5710-46FB-8BC0-FD97588F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4" y="967450"/>
            <a:ext cx="7152900" cy="363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457200" marR="0" lvl="0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Google Shape;75;g3fb0fc850ca_0_8">
            <a:extLst xmlns:a="http://schemas.openxmlformats.org/drawingml/2006/main">
              <a:ext uri="{FF2B5EF4-FFF2-40B4-BE49-F238E27FC236}">
                <a16:creationId xmlns:a16="http://schemas.microsoft.com/office/drawing/2014/main" id="{F43D6D9F-98F6-4DC5-AF69-E3AD2B18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Problem and objectives">
            <a:extLst xmlns:a="http://schemas.openxmlformats.org/drawingml/2006/main">
              <a:ext uri="{FF2B5EF4-FFF2-40B4-BE49-F238E27FC236}">
                <a16:creationId xmlns:a16="http://schemas.microsoft.com/office/drawing/2014/main" id="{CC84759D-4512-4E79-95FC-378E6816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990600"/>
            <a:ext cx="7000875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>
            <a:def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PROBLEM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Reports may be missing key details or a clear location.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Citizens, volunteers, and management need one shared response view.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Internet access can be weak during an emergency.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OBJECTIVES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Collect a citizen SOS with text or voice and a location.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Give management an explainable priority suggestion.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Help management review, match, and guide responders.</a:t>
            </a:r>
          </a:p>
          <a:p xmlns:a="http://schemas.openxmlformats.org/drawingml/2006/main">
            <a:pPr algn="l"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Queue a browser report when the connection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7959850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0" name="Google Shape;80;g40a09fbf8cc_2_8">
            <a:extLst xmlns:a="http://schemas.openxmlformats.org/drawingml/2006/main">
              <a:ext uri="{FF2B5EF4-FFF2-40B4-BE49-F238E27FC236}">
                <a16:creationId xmlns:a16="http://schemas.microsoft.com/office/drawing/2014/main" id="{D90CD76B-FBA7-4F4F-B3BF-198F749E2F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cb31556d174b8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Google Shape;81;g40a09fbf8cc_2_8">
            <a:extLst xmlns:a="http://schemas.openxmlformats.org/drawingml/2006/main">
              <a:ext uri="{FF2B5EF4-FFF2-40B4-BE49-F238E27FC236}">
                <a16:creationId xmlns:a16="http://schemas.microsoft.com/office/drawing/2014/main" id="{DE571A9F-3415-417C-8B9E-C444C315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Google Shape;82;g40a09fbf8cc_2_8">
            <a:extLst xmlns:a="http://schemas.openxmlformats.org/drawingml/2006/main">
              <a:ext uri="{FF2B5EF4-FFF2-40B4-BE49-F238E27FC236}">
                <a16:creationId xmlns:a16="http://schemas.microsoft.com/office/drawing/2014/main" id="{A7387EB8-0DDC-4C92-A9CD-991633A9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83" name="Google Shape;83;g40a09fbf8cc_2_8">
            <a:extLst xmlns:a="http://schemas.openxmlformats.org/drawingml/2006/main">
              <a:ext uri="{FF2B5EF4-FFF2-40B4-BE49-F238E27FC236}">
                <a16:creationId xmlns:a16="http://schemas.microsoft.com/office/drawing/2014/main" id="{BF18C3AC-5472-457F-90B7-1082F3B2E730}"/>
              </a:ext>
            </a:extLst>
          </p:cNvPr>
          <p:cNvGraphicFramePr/>
          <p:nvPr/>
        </p:nvGraphicFramePr>
        <p:xfrm>
          <a:off xmlns:a="http://schemas.openxmlformats.org/drawingml/2006/main" x="80201" y="1278731"/>
          <a:ext xmlns:a="http://schemas.openxmlformats.org/drawingml/2006/main" cx="8947785" cy="2857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gradFill>
                  <a:gsLst>
                    <a:gs pos="0">
                      <a:srgbClr val="FFD17D"/>
                    </a:gs>
                    <a:gs pos="35000">
                      <a:srgbClr val="FFDCA3"/>
                    </a:gs>
                    <a:gs pos="100000">
                      <a:srgbClr val="FFF1D8"/>
                    </a:gs>
                  </a:gsLst>
                  <a:lin ang="16200038" scaled="0"/>
                </a:gradFill>
                <a:tableStyleId>{A270B8EE-E738-40E2-BA1B-1580A0A2E2C3}</a:tableStyleId>
              </a:tblPr>
              <a:tblGrid>
                <a:gridCol w="459175"/>
                <a:gridCol w="2767075"/>
                <a:gridCol w="1463725"/>
                <a:gridCol w="1275175"/>
                <a:gridCol w="1120800"/>
                <a:gridCol w="1861800"/>
              </a:tblGrid>
              <a:tr h="5238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975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No.</a:t>
                      </a:r>
                      <a:endParaRPr sz="1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975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Study / year</a:t>
                      </a:r>
                      <a:endParaRPr sz="1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975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  <a:endParaRPr sz="1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975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Approach</a:t>
                      </a:r>
                      <a:endParaRPr sz="1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975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Finding</a:t>
                      </a:r>
                      <a:endParaRPr sz="1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975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Limit</a:t>
                      </a:r>
                      <a:endParaRPr sz="1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938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AIDR: AI for Disaster Response (2014)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938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Social media posts</a:t>
                      </a:r>
                      <a:endParaRPr sz="1500" b="1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938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Human labels + classifiers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938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AI can help sort crisis posts.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938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Posts may be noisy or unverified.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CrisisMMD (2018)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938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Tweets and images from disasters</a:t>
                      </a:r>
                      <a:endParaRPr sz="1500" b="1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Labeled multimodal dataset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Supports crisis content research.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Social posts are not verified SOS reports.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b="0" u="none" strike="noStrike" cap="none"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CrisisTransformers (2023)</a:t>
                      </a:r>
                      <a:endParaRPr sz="1200" b="1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sz="938" b="1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Crisis-related social text</a:t>
                      </a:r>
                      <a:endParaRPr sz="1500" b="1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Pre-trained language models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Studies text classification for crises.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38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Needs models, data, and computing resources.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68950" marB="68950" anchor="ctr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84" name="Google Shape;84;g40a09fbf8cc_2_8">
            <a:extLst xmlns:a="http://schemas.openxmlformats.org/drawingml/2006/main">
              <a:ext uri="{FF2B5EF4-FFF2-40B4-BE49-F238E27FC236}">
                <a16:creationId xmlns:a16="http://schemas.microsoft.com/office/drawing/2014/main" id="{488C9D71-1863-48DB-A539-00F34B4B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Literature Survey &amp; Research Gap</a:t>
            </a:r>
            <a:endParaRPr sz="2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5" name="Google Shape;85;g40a09fbf8cc_2_8">
            <a:extLst xmlns:a="http://schemas.openxmlformats.org/drawingml/2006/main">
              <a:ext uri="{FF2B5EF4-FFF2-40B4-BE49-F238E27FC236}">
                <a16:creationId xmlns:a16="http://schemas.microsoft.com/office/drawing/2014/main" id="{6ABBE9F9-D085-46C5-A4C4-3039A3A9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679050"/>
            <a:ext cx="7120800" cy="37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457200" marR="0" lvl="0" indent="-298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sz="1100"/>
              <a:t/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Google Shape;86;g40a09fbf8cc_2_8">
            <a:extLst xmlns:a="http://schemas.openxmlformats.org/drawingml/2006/main">
              <a:ext uri="{FF2B5EF4-FFF2-40B4-BE49-F238E27FC236}">
                <a16:creationId xmlns:a16="http://schemas.microsoft.com/office/drawing/2014/main" id="{3F12FBBE-D947-4C89-9F42-AAB57B75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Research gap summary">
            <a:extLst xmlns:a="http://schemas.openxmlformats.org/drawingml/2006/main">
              <a:ext uri="{FF2B5EF4-FFF2-40B4-BE49-F238E27FC236}">
                <a16:creationId xmlns:a16="http://schemas.microsoft.com/office/drawing/2014/main" id="{755B04E8-E8B9-4336-965B-CBAB307A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38625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>
            <a:defPPr algn="l"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252525"/>
                </a:solidFill>
                <a:latin typeface="Arial"/>
                <a:ea typeface="Arial"/>
                <a:cs typeface="Arial"/>
              </a:rPr>
              <a:t>Research gap: connect a structured SOS, explainable triage, human review, responder matching, maps, and bounded offline support in one prototype, then evaluate it with users and phones.</a:t>
            </a:r>
          </a:p>
        </p:txBody>
      </p:sp>
    </p:spTree>
    <p:extLst>
      <p:ext uri="{BB962C8B-B14F-4D97-AF65-F5344CB8AC3E}">
        <p14:creationId xmlns:p14="http://schemas.microsoft.com/office/powerpoint/2010/main" val="8637986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1" name="Google Shape;91;g3fb0fc850ca_0_22">
            <a:extLst xmlns:a="http://schemas.openxmlformats.org/drawingml/2006/main">
              <a:ext uri="{FF2B5EF4-FFF2-40B4-BE49-F238E27FC236}">
                <a16:creationId xmlns:a16="http://schemas.microsoft.com/office/drawing/2014/main" id="{18DB2E5B-20DC-4DED-B2B5-00EFC1CB52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46193aefd04cf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2" name="Google Shape;92;g3fb0fc850ca_0_22">
            <a:extLst xmlns:a="http://schemas.openxmlformats.org/drawingml/2006/main">
              <a:ext uri="{FF2B5EF4-FFF2-40B4-BE49-F238E27FC236}">
                <a16:creationId xmlns:a16="http://schemas.microsoft.com/office/drawing/2014/main" id="{60248D07-FC49-4EE7-8384-A9B01725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Google Shape;93;g3fb0fc850ca_0_22">
            <a:extLst xmlns:a="http://schemas.openxmlformats.org/drawingml/2006/main">
              <a:ext uri="{FF2B5EF4-FFF2-40B4-BE49-F238E27FC236}">
                <a16:creationId xmlns:a16="http://schemas.microsoft.com/office/drawing/2014/main" id="{8E33DA54-5BB5-4D88-8DCE-751E30EC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Google Shape;94;g3fb0fc850ca_0_22">
            <a:extLst xmlns:a="http://schemas.openxmlformats.org/drawingml/2006/main">
              <a:ext uri="{FF2B5EF4-FFF2-40B4-BE49-F238E27FC236}">
                <a16:creationId xmlns:a16="http://schemas.microsoft.com/office/drawing/2014/main" id="{C04D791B-75A0-4C8D-AD9C-A37E0D9C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60861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Proposed Solution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5" name="Google Shape;95;g3fb0fc850ca_0_22">
            <a:extLst xmlns:a="http://schemas.openxmlformats.org/drawingml/2006/main">
              <a:ext uri="{FF2B5EF4-FFF2-40B4-BE49-F238E27FC236}">
                <a16:creationId xmlns:a16="http://schemas.microsoft.com/office/drawing/2014/main" id="{44510790-810E-4B3C-A3E8-B85CF9AA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4" y="967450"/>
            <a:ext cx="7152900" cy="363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457200" marR="0" lvl="0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Google Shape;96;g3fb0fc850ca_0_22">
            <a:extLst xmlns:a="http://schemas.openxmlformats.org/drawingml/2006/main">
              <a:ext uri="{FF2B5EF4-FFF2-40B4-BE49-F238E27FC236}">
                <a16:creationId xmlns:a16="http://schemas.microsoft.com/office/drawing/2014/main" id="{1E29047A-BE8F-401A-8D12-7716FC42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Proposed solution details">
            <a:extLst xmlns:a="http://schemas.openxmlformats.org/drawingml/2006/main">
              <a:ext uri="{FF2B5EF4-FFF2-40B4-BE49-F238E27FC236}">
                <a16:creationId xmlns:a16="http://schemas.microsoft.com/office/drawing/2014/main" id="{F1D6D149-1BEE-4713-9A07-E583690C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990600"/>
            <a:ext cx="7000875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>
            <a:def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local response system connects citizens, volunteers, and management.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Citizens send an emergency report with text or voice and a location.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Rule-based NLP suggests a category and P0–P3 priority.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report shows confidence, reasons, missing details, and duplicate hints.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Management reviews the suggestion and can change it before dispatch.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Volunteer matching considers distance, skills, and availability.</a:t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Maps, offline browser storage, and Android BLE support the response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3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system supports emergency services; it does not replace 112.</a:t>
            </a:r>
          </a:p>
        </p:txBody>
      </p:sp>
    </p:spTree>
    <p:extLst>
      <p:ext uri="{BB962C8B-B14F-4D97-AF65-F5344CB8AC3E}">
        <p14:creationId xmlns:p14="http://schemas.microsoft.com/office/powerpoint/2010/main" val="20155017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" name="Google Shape;101;g3fb0fc850ca_0_44">
            <a:extLst xmlns:a="http://schemas.openxmlformats.org/drawingml/2006/main">
              <a:ext uri="{FF2B5EF4-FFF2-40B4-BE49-F238E27FC236}">
                <a16:creationId xmlns:a16="http://schemas.microsoft.com/office/drawing/2014/main" id="{1D7A95A1-7D64-46A7-9813-8655A0E25E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538255dcbe64aa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g3fb0fc850ca_0_44">
            <a:extLst xmlns:a="http://schemas.openxmlformats.org/drawingml/2006/main">
              <a:ext uri="{FF2B5EF4-FFF2-40B4-BE49-F238E27FC236}">
                <a16:creationId xmlns:a16="http://schemas.microsoft.com/office/drawing/2014/main" id="{3EE13F47-BBB0-4E02-88FD-64FB3151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oogle Shape;103;g3fb0fc850ca_0_44">
            <a:extLst xmlns:a="http://schemas.openxmlformats.org/drawingml/2006/main">
              <a:ext uri="{FF2B5EF4-FFF2-40B4-BE49-F238E27FC236}">
                <a16:creationId xmlns:a16="http://schemas.microsoft.com/office/drawing/2014/main" id="{53DAE8E2-46C0-473D-ABDA-89F0027A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Google Shape;104;g3fb0fc850ca_0_44">
            <a:extLst xmlns:a="http://schemas.openxmlformats.org/drawingml/2006/main">
              <a:ext uri="{FF2B5EF4-FFF2-40B4-BE49-F238E27FC236}">
                <a16:creationId xmlns:a16="http://schemas.microsoft.com/office/drawing/2014/main" id="{B3AB8635-CEEA-490A-B628-FA803CE7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System Architecture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5" name="Google Shape;105;g3fb0fc850ca_0_44">
            <a:extLst xmlns:a="http://schemas.openxmlformats.org/drawingml/2006/main">
              <a:ext uri="{FF2B5EF4-FFF2-40B4-BE49-F238E27FC236}">
                <a16:creationId xmlns:a16="http://schemas.microsoft.com/office/drawing/2014/main" id="{1C6920E4-2D34-4A86-9950-9C0055AF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5" y="967450"/>
            <a:ext cx="7803900" cy="363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457200" marR="0" lvl="0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t/>
            </a:r>
            <a:endParaRPr/>
          </a:p>
        </p:txBody>
      </p:sp>
      <p:sp>
        <p:nvSpPr>
          <p:cNvPr id="106" name="Google Shape;106;g3fb0fc850ca_0_44">
            <a:extLst xmlns:a="http://schemas.openxmlformats.org/drawingml/2006/main">
              <a:ext uri="{FF2B5EF4-FFF2-40B4-BE49-F238E27FC236}">
                <a16:creationId xmlns:a16="http://schemas.microsoft.com/office/drawing/2014/main" id="{0087FBC9-3AA5-4F19-B195-4B1591B0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Citizen / Volunteer">
            <a:extLst xmlns:a="http://schemas.openxmlformats.org/drawingml/2006/main">
              <a:ext uri="{FF2B5EF4-FFF2-40B4-BE49-F238E27FC236}">
                <a16:creationId xmlns:a16="http://schemas.microsoft.com/office/drawing/2014/main" id="{D9456862-ABBF-41A1-882B-8A7E2B7C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1905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1F8"/>
          </a:solidFill>
          <a:ln xmlns:a="http://schemas.openxmlformats.org/drawingml/2006/main" w="14288">
            <a:solidFill>
              <a:srgbClr val="7030A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Citizen / Volunteer</a:t>
            </a:r>
          </a:p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Submit or view a report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3435C31-D503-4B39-B7EA-09D1ABD9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52600"/>
            <a:ext cx="23812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8B12"/>
          </a:solidFill>
          <a:ln xmlns:a="http://schemas.openxmlformats.org/drawingml/2006/main" w="9525">
            <a:solidFill>
              <a:srgbClr val="C78B12"/>
            </a:solidFill>
            <a:prstDash val="solid"/>
          </a:ln>
        </p:spPr>
      </p:sp>
      <p:sp>
        <p:nvSpPr>
          <p:cNvPr id="109" name="React App + AI">
            <a:extLst xmlns:a="http://schemas.openxmlformats.org/drawingml/2006/main">
              <a:ext uri="{FF2B5EF4-FFF2-40B4-BE49-F238E27FC236}">
                <a16:creationId xmlns:a16="http://schemas.microsoft.com/office/drawing/2014/main" id="{D7DFEBD2-2D28-4AAD-A78A-7CE11C09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447800"/>
            <a:ext cx="1905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1F8"/>
          </a:solidFill>
          <a:ln xmlns:a="http://schemas.openxmlformats.org/drawingml/2006/main" w="14288">
            <a:solidFill>
              <a:srgbClr val="7030A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React App + AI</a:t>
            </a:r>
          </a:p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Keyword triage</a:t>
            </a:r>
          </a:p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P0–P3 suggestion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B88F780-6394-47CE-BC36-6EFACC2E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23812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8B12"/>
          </a:solidFill>
          <a:ln xmlns:a="http://schemas.openxmlformats.org/drawingml/2006/main" w="9525">
            <a:solidFill>
              <a:srgbClr val="C78B12"/>
            </a:solidFill>
            <a:prstDash val="solid"/>
          </a:ln>
        </p:spPr>
      </p:sp>
      <p:sp>
        <p:nvSpPr>
          <p:cNvPr id="111" name="Local Node API">
            <a:extLst xmlns:a="http://schemas.openxmlformats.org/drawingml/2006/main">
              <a:ext uri="{FF2B5EF4-FFF2-40B4-BE49-F238E27FC236}">
                <a16:creationId xmlns:a16="http://schemas.microsoft.com/office/drawing/2014/main" id="{E081040F-9783-4CEC-9F4D-230DF98A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47800"/>
            <a:ext cx="1905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1F8"/>
          </a:solidFill>
          <a:ln xmlns:a="http://schemas.openxmlformats.org/drawingml/2006/main" w="14288">
            <a:solidFill>
              <a:srgbClr val="7030A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Local Node API</a:t>
            </a:r>
          </a:p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REST service</a:t>
            </a:r>
          </a:p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JSON data store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FF75A28-3FDB-491C-80B0-3FC7504F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752600"/>
            <a:ext cx="23812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8B12"/>
          </a:solidFill>
          <a:ln xmlns:a="http://schemas.openxmlformats.org/drawingml/2006/main" w="9525">
            <a:solidFill>
              <a:srgbClr val="C78B12"/>
            </a:solidFill>
            <a:prstDash val="solid"/>
          </a:ln>
        </p:spPr>
      </p:sp>
      <p:sp>
        <p:nvSpPr>
          <p:cNvPr id="113" name="Management Room">
            <a:extLst xmlns:a="http://schemas.openxmlformats.org/drawingml/2006/main">
              <a:ext uri="{FF2B5EF4-FFF2-40B4-BE49-F238E27FC236}">
                <a16:creationId xmlns:a16="http://schemas.microsoft.com/office/drawing/2014/main" id="{DA5E672B-DEE1-4EB6-98E1-212DAE9F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447800"/>
            <a:ext cx="2143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1F8"/>
          </a:solidFill>
          <a:ln xmlns:a="http://schemas.openxmlformats.org/drawingml/2006/main" w="14288">
            <a:solidFill>
              <a:srgbClr val="7030A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Management Room</a:t>
            </a:r>
          </a:p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Review, override</a:t>
            </a:r>
          </a:p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and dispatch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61389F0-B3AC-4D48-B332-7B722F68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6098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SUPPORT COMPONENTS</a:t>
            </a:r>
          </a:p>
        </p:txBody>
      </p:sp>
      <p:sp>
        <p:nvSpPr>
          <p:cNvPr id="115" name="Browser Offline Queue">
            <a:extLst xmlns:a="http://schemas.openxmlformats.org/drawingml/2006/main">
              <a:ext uri="{FF2B5EF4-FFF2-40B4-BE49-F238E27FC236}">
                <a16:creationId xmlns:a16="http://schemas.microsoft.com/office/drawing/2014/main" id="{B51EFE4F-1DD7-45B6-A759-C2F62494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62275"/>
            <a:ext cx="26193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9EA"/>
          </a:solidFill>
          <a:ln xmlns:a="http://schemas.openxmlformats.org/drawingml/2006/main" w="14288">
            <a:solidFill>
              <a:srgbClr val="7030A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Browser Offline Queue</a:t>
            </a:r>
          </a:p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IndexedDB stores reports</a:t>
            </a:r>
          </a:p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until server sync</a:t>
            </a:r>
          </a:p>
        </p:txBody>
      </p:sp>
      <p:sp>
        <p:nvSpPr>
          <p:cNvPr id="116" name="Android BLE Relay">
            <a:extLst xmlns:a="http://schemas.openxmlformats.org/drawingml/2006/main">
              <a:ext uri="{FF2B5EF4-FFF2-40B4-BE49-F238E27FC236}">
                <a16:creationId xmlns:a16="http://schemas.microsoft.com/office/drawing/2014/main" id="{FE979381-8193-4693-89AF-8ED4F969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62275"/>
            <a:ext cx="26193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9EA"/>
          </a:solidFill>
          <a:ln xmlns:a="http://schemas.openxmlformats.org/drawingml/2006/main" w="14288">
            <a:solidFill>
              <a:srgbClr val="7030A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Android BLE Relay</a:t>
            </a:r>
          </a:p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Unique ID • expiry • hop limit</a:t>
            </a:r>
          </a:p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retry • acknowledgement</a:t>
            </a:r>
          </a:p>
        </p:txBody>
      </p:sp>
      <p:sp>
        <p:nvSpPr>
          <p:cNvPr id="117" name="GIS + Route Guide">
            <a:extLst xmlns:a="http://schemas.openxmlformats.org/drawingml/2006/main">
              <a:ext uri="{FF2B5EF4-FFF2-40B4-BE49-F238E27FC236}">
                <a16:creationId xmlns:a16="http://schemas.microsoft.com/office/drawing/2014/main" id="{A6871BBB-BD35-4765-9B10-CED53D83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62275"/>
            <a:ext cx="26193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9EA"/>
          </a:solidFill>
          <a:ln xmlns:a="http://schemas.openxmlformats.org/drawingml/2006/main" w="14288">
            <a:solidFill>
              <a:srgbClr val="7030A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GIS + Route Guide</a:t>
            </a:r>
          </a:p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Leaflet map • OSRM route</a:t>
            </a:r>
          </a:p>
          <a:p xmlns:a="http://schemas.openxmlformats.org/drawingml/2006/main">
            <a:pPr algn="ctr">
              <a:defRPr sz="1125">
                <a:solidFill>
                  <a:srgbClr val="1E234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E2340"/>
                </a:solidFill>
                <a:latin typeface="Arial"/>
                <a:ea typeface="Arial"/>
                <a:cs typeface="Arial"/>
              </a:rPr>
              <a:t>turn-by-turn directions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86B5C0E-9EB6-49D3-9642-3E36C2D9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9814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>
            <a:defPPr algn="l">
              <a:defRPr sz="975">
                <a:solidFill>
                  <a:srgbClr val="36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6364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36364B"/>
                </a:solidFill>
                <a:latin typeface="Arial"/>
                <a:ea typeface="Arial"/>
                <a:cs typeface="Arial"/>
              </a:rPr>
              <a:t>Browser queue sync and Android BLE relay are separate paths. A BLE relay acknowledgement does not mean the central server received the SOS.</a:t>
            </a:r>
          </a:p>
        </p:txBody>
      </p:sp>
    </p:spTree>
    <p:extLst>
      <p:ext uri="{BB962C8B-B14F-4D97-AF65-F5344CB8AC3E}">
        <p14:creationId xmlns:p14="http://schemas.microsoft.com/office/powerpoint/2010/main" val="10632317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1" name="Google Shape;111;g3fb0fc850ca_0_70">
            <a:extLst xmlns:a="http://schemas.openxmlformats.org/drawingml/2006/main">
              <a:ext uri="{FF2B5EF4-FFF2-40B4-BE49-F238E27FC236}">
                <a16:creationId xmlns:a16="http://schemas.microsoft.com/office/drawing/2014/main" id="{14232800-F207-48EC-90B6-B8B5FFBC54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7e31ef7ec184ea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2" name="Google Shape;112;g3fb0fc850ca_0_70">
            <a:extLst xmlns:a="http://schemas.openxmlformats.org/drawingml/2006/main">
              <a:ext uri="{FF2B5EF4-FFF2-40B4-BE49-F238E27FC236}">
                <a16:creationId xmlns:a16="http://schemas.microsoft.com/office/drawing/2014/main" id="{08F8B033-5E15-44B9-8392-789D33C9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Google Shape;113;g3fb0fc850ca_0_70">
            <a:extLst xmlns:a="http://schemas.openxmlformats.org/drawingml/2006/main">
              <a:ext uri="{FF2B5EF4-FFF2-40B4-BE49-F238E27FC236}">
                <a16:creationId xmlns:a16="http://schemas.microsoft.com/office/drawing/2014/main" id="{25B70431-44AB-49E1-BD61-A8B61FF0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Google Shape;114;g3fb0fc850ca_0_70">
            <a:extLst xmlns:a="http://schemas.openxmlformats.org/drawingml/2006/main">
              <a:ext uri="{FF2B5EF4-FFF2-40B4-BE49-F238E27FC236}">
                <a16:creationId xmlns:a16="http://schemas.microsoft.com/office/drawing/2014/main" id="{79202D3E-97AF-48D9-BA6B-C662BDFD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Technology Stack &amp; Team Roles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5" name="Google Shape;115;g3fb0fc850ca_0_70">
            <a:extLst xmlns:a="http://schemas.openxmlformats.org/drawingml/2006/main">
              <a:ext uri="{FF2B5EF4-FFF2-40B4-BE49-F238E27FC236}">
                <a16:creationId xmlns:a16="http://schemas.microsoft.com/office/drawing/2014/main" id="{129F283C-6572-444B-811B-F038657E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5" y="967450"/>
            <a:ext cx="7803900" cy="363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Google Shape;116;g3fb0fc850ca_0_70">
            <a:extLst xmlns:a="http://schemas.openxmlformats.org/drawingml/2006/main">
              <a:ext uri="{FF2B5EF4-FFF2-40B4-BE49-F238E27FC236}">
                <a16:creationId xmlns:a16="http://schemas.microsoft.com/office/drawing/2014/main" id="{6A5388D7-B607-47CF-9302-4402602C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2FA4200-BECB-4555-B549-85F3945E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04925"/>
            <a:ext cx="42672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5F1F8"/>
          </a:solidFill>
          <a:ln xmlns:a="http://schemas.openxmlformats.org/drawingml/2006/main" w="11906">
            <a:solidFill>
              <a:srgbClr val="C9B8D8"/>
            </a:solidFill>
            <a:prstDash val="solid"/>
          </a:ln>
        </p:spPr>
        <p:txBody>
          <a:bodyPr xmlns:a="http://schemas.openxmlformats.org/drawingml/2006/main" lIns="171450" tIns="142875" rIns="142875" bIns="114300" anchor="t">
            <a:normAutofit fontScale="100000"/>
          </a:bodyPr>
          <a:lstStyle xmlns:a="http://schemas.openxmlformats.org/drawingml/2006/main">
            <a:defPPr algn="l">
              <a:defRPr sz="1200">
                <a:solidFill>
                  <a:srgbClr val="2223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2233A"/>
                </a:solidFill>
                <a:latin typeface="Arial"/>
                <a:ea typeface="Arial"/>
                <a:cs typeface="Arial"/>
              </a:rPr>
              <a:t>TECH STACK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2233A"/>
                </a:solidFill>
                <a:latin typeface="Arial"/>
                <a:ea typeface="Arial"/>
                <a:cs typeface="Arial"/>
              </a:rPr>
              <a:t>Frontend: React, Vite, Tailwind CSS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2233A"/>
                </a:solidFill>
                <a:latin typeface="Arial"/>
                <a:ea typeface="Arial"/>
                <a:cs typeface="Arial"/>
              </a:rPr>
              <a:t>Maps: Leaflet, OpenStreetMap, OSRM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2233A"/>
                </a:solidFill>
                <a:latin typeface="Arial"/>
                <a:ea typeface="Arial"/>
                <a:cs typeface="Arial"/>
              </a:rPr>
              <a:t>API and data: Node.js local REST API, JSON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2233A"/>
                </a:solidFill>
                <a:latin typeface="Arial"/>
                <a:ea typeface="Arial"/>
                <a:cs typeface="Arial"/>
              </a:rPr>
              <a:t>Browser offline: Dexie and IndexedDB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2233A"/>
                </a:solidFill>
                <a:latin typeface="Arial"/>
                <a:ea typeface="Arial"/>
                <a:cs typeface="Arial"/>
              </a:rPr>
              <a:t>Android relay: Java and Bluetooth Low Energy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2233A"/>
                </a:solidFill>
                <a:latin typeface="Arial"/>
                <a:ea typeface="Arial"/>
                <a:cs typeface="Arial"/>
              </a:rPr>
              <a:t>Voice: Vosk English/Hindi; Marathi uses device or browser speech support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D514CF6-33B4-41EE-A378-AE930442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304925"/>
            <a:ext cx="42672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1906">
            <a:solidFill>
              <a:srgbClr val="C9B8D8"/>
            </a:solidFill>
            <a:prstDash val="solid"/>
          </a:ln>
        </p:spPr>
        <p:txBody>
          <a:bodyPr xmlns:a="http://schemas.openxmlformats.org/drawingml/2006/main" lIns="171450" tIns="142875" rIns="142875" bIns="114300" anchor="t">
            <a:normAutofit fontScale="100000"/>
          </a:bodyPr>
          <a:lstStyle xmlns:a="http://schemas.openxmlformats.org/drawingml/2006/main">
            <a:defPPr algn="l">
              <a:defRPr sz="1200">
                <a:solidFill>
                  <a:srgbClr val="2223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2233A"/>
                </a:solidFill>
                <a:latin typeface="Arial"/>
                <a:ea typeface="Arial"/>
                <a:cs typeface="Arial"/>
              </a:rPr>
              <a:t>SIMPLE SUGGESTED TEAM ROLES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2233A"/>
                </a:solidFill>
                <a:latin typeface="Arial"/>
                <a:ea typeface="Arial"/>
                <a:cs typeface="Arial"/>
              </a:rPr>
              <a:t>AYUSH KATHOTE — Team lead and integration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2233A"/>
                </a:solidFill>
                <a:latin typeface="Arial"/>
                <a:ea typeface="Arial"/>
                <a:cs typeface="Arial"/>
              </a:rPr>
              <a:t>Sarthak Mahore — Frontend and citizen reporting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2233A"/>
                </a:solidFill>
                <a:latin typeface="Arial"/>
                <a:ea typeface="Arial"/>
                <a:cs typeface="Arial"/>
              </a:rPr>
              <a:t>Pruthviraj Gawande — Backend and data handling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2233A"/>
                </a:solidFill>
                <a:latin typeface="Arial"/>
                <a:ea typeface="Arial"/>
                <a:cs typeface="Arial"/>
              </a:rPr>
              <a:t>Taha Saifee — AI triage and volunteer matching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>
                <a:solidFill>
                  <a:srgbClr val="22233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2233A"/>
                </a:solidFill>
                <a:latin typeface="Arial"/>
                <a:ea typeface="Arial"/>
                <a:cs typeface="Arial"/>
              </a:rPr>
              <a:t>Vedant Malode — Maps, Android relay, and testing</a:t>
            </a:r>
          </a:p>
        </p:txBody>
      </p:sp>
    </p:spTree>
    <p:extLst>
      <p:ext uri="{BB962C8B-B14F-4D97-AF65-F5344CB8AC3E}">
        <p14:creationId xmlns:p14="http://schemas.microsoft.com/office/powerpoint/2010/main" val="13044779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1" name="Google Shape;121;g3fb0fc850ca_0_80">
            <a:extLst xmlns:a="http://schemas.openxmlformats.org/drawingml/2006/main">
              <a:ext uri="{FF2B5EF4-FFF2-40B4-BE49-F238E27FC236}">
                <a16:creationId xmlns:a16="http://schemas.microsoft.com/office/drawing/2014/main" id="{1EA96D9B-BB1B-4F28-964C-4A290224F6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10faf4e50f4a4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2" name="Google Shape;122;g3fb0fc850ca_0_80">
            <a:extLst xmlns:a="http://schemas.openxmlformats.org/drawingml/2006/main">
              <a:ext uri="{FF2B5EF4-FFF2-40B4-BE49-F238E27FC236}">
                <a16:creationId xmlns:a16="http://schemas.microsoft.com/office/drawing/2014/main" id="{45ED3410-BE96-49C7-B2F7-4E6A5654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Google Shape;123;g3fb0fc850ca_0_80">
            <a:extLst xmlns:a="http://schemas.openxmlformats.org/drawingml/2006/main">
              <a:ext uri="{FF2B5EF4-FFF2-40B4-BE49-F238E27FC236}">
                <a16:creationId xmlns:a16="http://schemas.microsoft.com/office/drawing/2014/main" id="{A814B7A6-AE0D-4FEF-BE0A-6EAAC303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Google Shape;124;g3fb0fc850ca_0_80">
            <a:extLst xmlns:a="http://schemas.openxmlformats.org/drawingml/2006/main">
              <a:ext uri="{FF2B5EF4-FFF2-40B4-BE49-F238E27FC236}">
                <a16:creationId xmlns:a16="http://schemas.microsoft.com/office/drawing/2014/main" id="{2B40864B-3415-4505-BE6D-977B85DA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How the System Works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5" name="Google Shape;125;g3fb0fc850ca_0_80">
            <a:extLst xmlns:a="http://schemas.openxmlformats.org/drawingml/2006/main">
              <a:ext uri="{FF2B5EF4-FFF2-40B4-BE49-F238E27FC236}">
                <a16:creationId xmlns:a16="http://schemas.microsoft.com/office/drawing/2014/main" id="{CFED1ABA-2706-4946-AF78-F27C67D4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5" y="967450"/>
            <a:ext cx="7803900" cy="363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t">
            <a:normAutofit fontScale="100000"/>
          </a:bodyPr>
          <a:lstStyle xmlns:a="http://schemas.openxmlformats.org/drawingml/2006/main">
            <a:defPPr>
              <a:defRPr sz="1238"/>
            </a:defPPr>
          </a:lstStyle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38"/>
              <a:t>1. A citizen selects an emergency type and adds text or a voice note.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38"/>
              <a:t>2. The app gets a location when allowed, or the user can correct it.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38"/>
              <a:t>3. Local keyword rules suggest a category, priority, confidence, and reason.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38"/>
              <a:t>4. Management reviews the report and can change the AI suggestion.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38"/>
              <a:t>5. The system ranks approved volunteers using distance, skills, and availability.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38"/>
              <a:t>6. The map shows a route. First-aid help is guidance, and 112 stays available.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38"/>
              <a:t>7. If offline, the browser queues a report; nearby Android apps can relay BLE packets.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38"/>
              <a:t>8. The interface shows BLE relay and server receipt as different statuses.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Google Shape;126;g3fb0fc850ca_0_80">
            <a:extLst xmlns:a="http://schemas.openxmlformats.org/drawingml/2006/main">
              <a:ext uri="{FF2B5EF4-FFF2-40B4-BE49-F238E27FC236}">
                <a16:creationId xmlns:a16="http://schemas.microsoft.com/office/drawing/2014/main" id="{B284E2BD-1C06-416B-A7BC-E5B45DDF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58306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1" name="Google Shape;131;g3fb0fc850ca_0_89">
            <a:extLst xmlns:a="http://schemas.openxmlformats.org/drawingml/2006/main">
              <a:ext uri="{FF2B5EF4-FFF2-40B4-BE49-F238E27FC236}">
                <a16:creationId xmlns:a16="http://schemas.microsoft.com/office/drawing/2014/main" id="{934C3B3E-8665-4C46-B880-5FDC7F21E5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603e7a2e5d4a6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2" name="Google Shape;132;g3fb0fc850ca_0_89">
            <a:extLst xmlns:a="http://schemas.openxmlformats.org/drawingml/2006/main">
              <a:ext uri="{FF2B5EF4-FFF2-40B4-BE49-F238E27FC236}">
                <a16:creationId xmlns:a16="http://schemas.microsoft.com/office/drawing/2014/main" id="{84397786-A9C8-45E8-8BEB-A6F2EE43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Google Shape;133;g3fb0fc850ca_0_89">
            <a:extLst xmlns:a="http://schemas.openxmlformats.org/drawingml/2006/main">
              <a:ext uri="{FF2B5EF4-FFF2-40B4-BE49-F238E27FC236}">
                <a16:creationId xmlns:a16="http://schemas.microsoft.com/office/drawing/2014/main" id="{3292873B-9213-4E44-95FD-8E885A06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Google Shape;134;g3fb0fc850ca_0_89">
            <a:extLst xmlns:a="http://schemas.openxmlformats.org/drawingml/2006/main">
              <a:ext uri="{FF2B5EF4-FFF2-40B4-BE49-F238E27FC236}">
                <a16:creationId xmlns:a16="http://schemas.microsoft.com/office/drawing/2014/main" id="{E5E88B4A-B1BA-4699-9F13-2BFF2B5E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Testing &amp; Validation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5" name="Google Shape;135;g3fb0fc850ca_0_89">
            <a:extLst xmlns:a="http://schemas.openxmlformats.org/drawingml/2006/main">
              <a:ext uri="{FF2B5EF4-FFF2-40B4-BE49-F238E27FC236}">
                <a16:creationId xmlns:a16="http://schemas.microsoft.com/office/drawing/2014/main" id="{88B356AD-EA8F-4DA7-921C-F9FB699F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5" y="967450"/>
            <a:ext cx="7803900" cy="363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t">
            <a:normAutofit fontScale="100000"/>
          </a:bodyPr>
          <a:lstStyle xmlns:a="http://schemas.openxmlformats.org/drawingml/2006/main">
            <a:defPPr>
              <a:defRPr sz="1238"/>
            </a:defPPr>
          </a:lstStyle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38"/>
              <a:t>• The web application production build has completed successfully.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38"/>
              <a:t>• Triage uses keyword rules. No accuracy benchmark was supplied.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38"/>
              <a:t>• The browser queue and reconnect sync are implemented in the prototype.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38"/>
              <a:t>• Native BLE code includes expiry, hop limit, retries, signatures, and acknowledgements.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38"/>
              <a:t>• Testing on multiple Android phones, BLE range, battery use, and background limits is still needed.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38"/>
              <a:t>• No user study or live emergency field trial results were supplied.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238"/>
              <a:t>The prototype should be tested before use in real emergencies.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Google Shape;136;g3fb0fc850ca_0_89">
            <a:extLst xmlns:a="http://schemas.openxmlformats.org/drawingml/2006/main">
              <a:ext uri="{FF2B5EF4-FFF2-40B4-BE49-F238E27FC236}">
                <a16:creationId xmlns:a16="http://schemas.microsoft.com/office/drawing/2014/main" id="{08158332-B1EF-4E1E-BFB7-FA34567B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16556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1" name="Google Shape;141;g3fb0fc850ca_0_117">
            <a:extLst xmlns:a="http://schemas.openxmlformats.org/drawingml/2006/main">
              <a:ext uri="{FF2B5EF4-FFF2-40B4-BE49-F238E27FC236}">
                <a16:creationId xmlns:a16="http://schemas.microsoft.com/office/drawing/2014/main" id="{20C12503-C38D-4FC5-B860-1AF9643F16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43ae39bc1b4c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g3fb0fc850ca_0_117">
            <a:extLst xmlns:a="http://schemas.openxmlformats.org/drawingml/2006/main">
              <a:ext uri="{FF2B5EF4-FFF2-40B4-BE49-F238E27FC236}">
                <a16:creationId xmlns:a16="http://schemas.microsoft.com/office/drawing/2014/main" id="{B886DDDE-AE8D-41F7-87E1-200DB1B0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Google Shape;143;g3fb0fc850ca_0_117">
            <a:extLst xmlns:a="http://schemas.openxmlformats.org/drawingml/2006/main">
              <a:ext uri="{FF2B5EF4-FFF2-40B4-BE49-F238E27FC236}">
                <a16:creationId xmlns:a16="http://schemas.microsoft.com/office/drawing/2014/main" id="{97C6C98C-0880-419A-B860-164110AB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Google Shape;144;g3fb0fc850ca_0_117">
            <a:extLst xmlns:a="http://schemas.openxmlformats.org/drawingml/2006/main">
              <a:ext uri="{FF2B5EF4-FFF2-40B4-BE49-F238E27FC236}">
                <a16:creationId xmlns:a16="http://schemas.microsoft.com/office/drawing/2014/main" id="{D700EEFA-D256-47C0-85C0-6BA36C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Results &amp; Conclusion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5" name="Google Shape;145;g3fb0fc850ca_0_117">
            <a:extLst xmlns:a="http://schemas.openxmlformats.org/drawingml/2006/main">
              <a:ext uri="{FF2B5EF4-FFF2-40B4-BE49-F238E27FC236}">
                <a16:creationId xmlns:a16="http://schemas.microsoft.com/office/drawing/2014/main" id="{E4874430-E0D7-47C8-A791-B080D73C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Conclusion summary">
            <a:extLst xmlns:a="http://schemas.openxmlformats.org/drawingml/2006/main">
              <a:ext uri="{FF2B5EF4-FFF2-40B4-BE49-F238E27FC236}">
                <a16:creationId xmlns:a16="http://schemas.microsoft.com/office/drawing/2014/main" id="{DA1402E2-498E-4182-B6E1-CEC4C62C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04900"/>
            <a:ext cx="85725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133350" rIns="95250" bIns="9525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One prototype brings citizen reporting, management review, maps, and volunteer tools together.</a:t>
            </a:r>
          </a:p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AI provides an explainable suggestion; management keeps the final decision.</a:t>
            </a:r>
          </a:p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Responder ranking uses distance, relevant skills, and availability.</a:t>
            </a:r>
          </a:p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Browser storage and Android BLE can help when normal internet access is limited.</a:t>
            </a:r>
          </a:p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BLE relay does not prove that emergency services or the central server received the SOS.</a:t>
            </a:r>
          </a:p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More testing with users and real Android phones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717"/>
                </a:solidFill>
                <a:latin typeface="Arial"/>
                <a:ea typeface="Arial"/>
                <a:cs typeface="Arial"/>
              </a:rPr>
              <a:t>This project supports community response and complements India’s 112 emergency service.</a:t>
            </a:r>
          </a:p>
        </p:txBody>
      </p:sp>
    </p:spTree>
    <p:extLst>
      <p:ext uri="{BB962C8B-B14F-4D97-AF65-F5344CB8AC3E}">
        <p14:creationId xmlns:p14="http://schemas.microsoft.com/office/powerpoint/2010/main" val="18558390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0" name="Google Shape;150;g3fb0fc850ca_0_102">
            <a:extLst xmlns:a="http://schemas.openxmlformats.org/drawingml/2006/main">
              <a:ext uri="{FF2B5EF4-FFF2-40B4-BE49-F238E27FC236}">
                <a16:creationId xmlns:a16="http://schemas.microsoft.com/office/drawing/2014/main" id="{5CD8E0B8-E1A1-4827-A657-67047BBBBC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5149839ffa496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1" name="Google Shape;151;g3fb0fc850ca_0_102">
            <a:extLst xmlns:a="http://schemas.openxmlformats.org/drawingml/2006/main">
              <a:ext uri="{FF2B5EF4-FFF2-40B4-BE49-F238E27FC236}">
                <a16:creationId xmlns:a16="http://schemas.microsoft.com/office/drawing/2014/main" id="{D1591BCC-63E9-4B36-93FD-67CE2138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Google Shape;152;g3fb0fc850ca_0_102">
            <a:extLst xmlns:a="http://schemas.openxmlformats.org/drawingml/2006/main">
              <a:ext uri="{FF2B5EF4-FFF2-40B4-BE49-F238E27FC236}">
                <a16:creationId xmlns:a16="http://schemas.microsoft.com/office/drawing/2014/main" id="{FEBE5FCC-9057-4F7D-85CC-35F9AE35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Google Shape;153;g3fb0fc850ca_0_102">
            <a:extLst xmlns:a="http://schemas.openxmlformats.org/drawingml/2006/main">
              <a:ext uri="{FF2B5EF4-FFF2-40B4-BE49-F238E27FC236}">
                <a16:creationId xmlns:a16="http://schemas.microsoft.com/office/drawing/2014/main" id="{74127A4B-1876-45E8-9454-3C68DD71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4" name="Google Shape;154;g3fb0fc850ca_0_102">
            <a:extLst xmlns:a="http://schemas.openxmlformats.org/drawingml/2006/main">
              <a:ext uri="{FF2B5EF4-FFF2-40B4-BE49-F238E27FC236}">
                <a16:creationId xmlns:a16="http://schemas.microsoft.com/office/drawing/2014/main" id="{6964A6F3-AC7A-434C-B06E-AA3E5AA7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1270000"/>
            <a:ext cx="8687700" cy="32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/>
            </a:r>
            <a:endParaRPr sz="12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55" name="Google Shape;155;g3fb0fc850ca_0_102">
            <a:extLst xmlns:a="http://schemas.openxmlformats.org/drawingml/2006/main">
              <a:ext uri="{FF2B5EF4-FFF2-40B4-BE49-F238E27FC236}">
                <a16:creationId xmlns:a16="http://schemas.microsoft.com/office/drawing/2014/main" id="{E4F17CC7-1165-4A97-8C19-EDACACE9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References and sources">
            <a:extLst xmlns:a="http://schemas.openxmlformats.org/drawingml/2006/main">
              <a:ext uri="{FF2B5EF4-FFF2-40B4-BE49-F238E27FC236}">
                <a16:creationId xmlns:a16="http://schemas.microsoft.com/office/drawing/2014/main" id="{9DD0FF76-20D4-43A6-8269-DD556596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00150"/>
            <a:ext cx="87153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47625" tIns="28575" rIns="47625" bIns="28575" anchor="t">
            <a:normAutofit fontScale="100000"/>
          </a:bodyPr>
          <a:lstStyle xmlns:a="http://schemas.openxmlformats.org/drawingml/2006/main">
            <a:def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[1] M. Imran et al., “AIDR: Artificial Intelligence for Disaster Response,” WWW, 2014.</a:t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[2] F. Alam, F. Ofli, and M. Imran, “CrisisMMD,” ICWSM, 2018.</a:t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[3] S. Lamsal et al., “CrisisTransformers,” 2023.</a:t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[4] React Team, React Documentation.</a:t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[5] Leaflet Team, Leaflet Reference.</a:t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[6] Project OSRM, OSRM API Documentation.</a:t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[7] Mozilla, IndexedDB API Documentation.</a:t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[8] Android Developers, Bluetooth Low Energy Overview.</a:t>
            </a:r>
          </a:p>
          <a:p xmlns:a="http://schemas.openxmlformats.org/drawingml/2006/main">
            <a:pPr algn="l">
              <a:defRPr sz="116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111111"/>
                </a:solidFill>
                <a:latin typeface="Arial"/>
                <a:ea typeface="Arial"/>
                <a:cs typeface="Arial"/>
              </a:rPr>
              <a:t>[9] Government of India, Emergency Response Support System (112).</a:t>
            </a:r>
          </a:p>
        </p:txBody>
      </p:sp>
    </p:spTree>
    <p:extLst>
      <p:ext uri="{BB962C8B-B14F-4D97-AF65-F5344CB8AC3E}">
        <p14:creationId xmlns:p14="http://schemas.microsoft.com/office/powerpoint/2010/main" val="18578556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0" name="Google Shape;160;g40a09fbf8cc_1_15">
            <a:extLst xmlns:a="http://schemas.openxmlformats.org/drawingml/2006/main">
              <a:ext uri="{FF2B5EF4-FFF2-40B4-BE49-F238E27FC236}">
                <a16:creationId xmlns:a16="http://schemas.microsoft.com/office/drawing/2014/main" id="{2E0276EC-D4F4-498A-B081-DDF2778EC8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7365c71d28649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1" name="Google Shape;161;g40a09fbf8cc_1_15">
            <a:extLst xmlns:a="http://schemas.openxmlformats.org/drawingml/2006/main">
              <a:ext uri="{FF2B5EF4-FFF2-40B4-BE49-F238E27FC236}">
                <a16:creationId xmlns:a16="http://schemas.microsoft.com/office/drawing/2014/main" id="{6A27D95E-5D0F-496A-83A0-ACBA2160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Google Shape;162;g40a09fbf8cc_1_15">
            <a:extLst xmlns:a="http://schemas.openxmlformats.org/drawingml/2006/main">
              <a:ext uri="{FF2B5EF4-FFF2-40B4-BE49-F238E27FC236}">
                <a16:creationId xmlns:a16="http://schemas.microsoft.com/office/drawing/2014/main" id="{9DFC0DC2-5941-4CD2-8ABA-3ACF62D0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Google Shape;163;g40a09fbf8cc_1_15">
            <a:extLst xmlns:a="http://schemas.openxmlformats.org/drawingml/2006/main">
              <a:ext uri="{FF2B5EF4-FFF2-40B4-BE49-F238E27FC236}">
                <a16:creationId xmlns:a16="http://schemas.microsoft.com/office/drawing/2014/main" id="{A566B4AF-835E-4A6B-9EF2-601A113E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Research &amp; Publication Status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4" name="Google Shape;164;g40a09fbf8cc_1_15">
            <a:extLst xmlns:a="http://schemas.openxmlformats.org/drawingml/2006/main">
              <a:ext uri="{FF2B5EF4-FFF2-40B4-BE49-F238E27FC236}">
                <a16:creationId xmlns:a16="http://schemas.microsoft.com/office/drawing/2014/main" id="{FE304F39-D698-4B25-8BE8-D812EA9E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65" name="Google Shape;165;g40a09fbf8cc_1_15">
            <a:extLst xmlns:a="http://schemas.openxmlformats.org/drawingml/2006/main">
              <a:ext uri="{FF2B5EF4-FFF2-40B4-BE49-F238E27FC236}">
                <a16:creationId xmlns:a16="http://schemas.microsoft.com/office/drawing/2014/main" id="{7DC67F15-D931-43BD-98DC-9A7D76711185}"/>
              </a:ext>
            </a:extLst>
          </p:cNvPr>
          <p:cNvGraphicFramePr/>
          <p:nvPr/>
        </p:nvGraphicFramePr>
        <p:xfrm>
          <a:off xmlns:a="http://schemas.openxmlformats.org/drawingml/2006/main" x="171450" y="1304925"/>
          <a:ext xmlns:a="http://schemas.openxmlformats.org/drawingml/2006/main" cx="8667750" cy="2857500"/>
        </p:xfrm>
        <a:graphic xmlns:a="http://schemas.openxmlformats.org/drawingml/2006/main">
          <a:graphicData uri="http://schemas.openxmlformats.org/drawingml/2006/table">
            <a:tbl>
              <a:tblPr>
                <a:tableStyleId>{855B57AB-33F6-4EFC-92FD-E4C6D41678EF}</a:tableStyleId>
              </a:tblPr>
              <a:tblGrid>
                <a:gridCol w="1074775"/>
                <a:gridCol w="3438575"/>
                <a:gridCol w="1609775"/>
                <a:gridCol w="2296975"/>
              </a:tblGrid>
              <a:tr h="4000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 b="1">
                          <a:latin typeface="Times New Roman"/>
                          <a:ea typeface="Times New Roman"/>
                          <a:cs typeface="Times New Roman"/>
                        </a:rPr>
                        <a:t>Activity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28575" cmpd="sng">
                      <a:solidFill>
                        <a:srgbClr val="000000"/>
                      </a:solidFill>
                      <a:prstDash val="solid"/>
                    </a:lnL>
                    <a:lnR w="28575" cmpd="sng">
                      <a:solidFill>
                        <a:srgbClr val="000000"/>
                      </a:solidFill>
                      <a:prstDash val="solid"/>
                    </a:lnR>
                    <a:lnT w="28575" cmpd="sng">
                      <a:solidFill>
                        <a:srgbClr val="000000"/>
                      </a:solidFill>
                      <a:prstDash val="solid"/>
                    </a:lnT>
                    <a:lnB w="28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 b="1">
                          <a:latin typeface="Times New Roman"/>
                          <a:ea typeface="Times New Roman"/>
                          <a:cs typeface="Times New Roman"/>
                        </a:rPr>
                        <a:t>Title / evidence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28575" cmpd="sng">
                      <a:solidFill>
                        <a:srgbClr val="000000"/>
                      </a:solidFill>
                      <a:prstDash val="solid"/>
                    </a:lnL>
                    <a:lnR w="28575" cmpd="sng">
                      <a:solidFill>
                        <a:srgbClr val="000000"/>
                      </a:solidFill>
                      <a:prstDash val="solid"/>
                    </a:lnR>
                    <a:lnT w="28575" cmpd="sng">
                      <a:solidFill>
                        <a:srgbClr val="000000"/>
                      </a:solidFill>
                      <a:prstDash val="solid"/>
                    </a:lnT>
                    <a:lnB w="28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 b="1">
                          <a:latin typeface="Times New Roman"/>
                          <a:ea typeface="Times New Roman"/>
                          <a:cs typeface="Times New Roman"/>
                        </a:rPr>
                        <a:t>Venue / authority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28575" cmpd="sng">
                      <a:solidFill>
                        <a:srgbClr val="000000"/>
                      </a:solidFill>
                      <a:prstDash val="solid"/>
                    </a:lnL>
                    <a:lnR w="28575" cmpd="sng">
                      <a:solidFill>
                        <a:srgbClr val="000000"/>
                      </a:solidFill>
                      <a:prstDash val="solid"/>
                    </a:lnR>
                    <a:lnT w="28575" cmpd="sng">
                      <a:solidFill>
                        <a:srgbClr val="000000"/>
                      </a:solidFill>
                      <a:prstDash val="solid"/>
                    </a:lnT>
                    <a:lnB w="28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 b="1">
                          <a:latin typeface="Times New Roman"/>
                          <a:ea typeface="Times New Roman"/>
                          <a:cs typeface="Times New Roman"/>
                        </a:rPr>
                        <a:t>Status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25" marR="91425" marT="91425" marB="91425">
                    <a:lnL w="28575" cmpd="sng">
                      <a:solidFill>
                        <a:srgbClr val="000000"/>
                      </a:solidFill>
                      <a:prstDash val="solid"/>
                    </a:lnL>
                    <a:lnR w="28575" cmpd="sng">
                      <a:solidFill>
                        <a:srgbClr val="000000"/>
                      </a:solidFill>
                      <a:prstDash val="solid"/>
                    </a:lnR>
                    <a:lnT w="28575" cmpd="sng">
                      <a:solidFill>
                        <a:srgbClr val="000000"/>
                      </a:solidFill>
                      <a:prstDash val="solid"/>
                    </a:lnT>
                    <a:lnB w="2857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>Project prototype</a:t>
                      </a:r>
                      <a:endParaRPr sz="1100" b="1"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2857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/>
                        <a:t>AI-Based Smart Adaptive Network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2857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/>
                        <a:t>Major Project Seminar-I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2857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/>
                        <a:t>Prototype developed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2857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>Research paper</a:t>
                      </a:r>
                      <a:endParaRPr sz="1100" b="1"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/>
                        <a:t>No title supplied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/>
                        <a:t>Not supplied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/>
                        <a:t>Status not confirmed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>Review paper</a:t>
                      </a:r>
                      <a:endParaRPr sz="1100" b="1"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/>
                        <a:t>No title supplied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/>
                        <a:t>Not supplied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/>
                        <a:t>Status not confirmed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/>
                        <a:t>Copyright / patent</a:t>
                      </a:r>
                      <a:endParaRPr sz="1100" b="1"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/>
                        <a:t>No certificate supplied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/>
                        <a:t>Not supplied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/>
                        <a:t>Status not confirmed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81214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0" name="Google Shape;170;g40a09fbf8cc_1_24">
            <a:extLst xmlns:a="http://schemas.openxmlformats.org/drawingml/2006/main">
              <a:ext uri="{FF2B5EF4-FFF2-40B4-BE49-F238E27FC236}">
                <a16:creationId xmlns:a16="http://schemas.microsoft.com/office/drawing/2014/main" id="{6E10733B-BF29-4306-8B9C-1911A411B9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c9abafc5fe44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1" name="Google Shape;171;g40a09fbf8cc_1_24">
            <a:extLst xmlns:a="http://schemas.openxmlformats.org/drawingml/2006/main">
              <a:ext uri="{FF2B5EF4-FFF2-40B4-BE49-F238E27FC236}">
                <a16:creationId xmlns:a16="http://schemas.microsoft.com/office/drawing/2014/main" id="{AE358EEB-B5EC-4F6B-90A3-BA105CDA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Google Shape;172;g40a09fbf8cc_1_24">
            <a:extLst xmlns:a="http://schemas.openxmlformats.org/drawingml/2006/main">
              <a:ext uri="{FF2B5EF4-FFF2-40B4-BE49-F238E27FC236}">
                <a16:creationId xmlns:a16="http://schemas.microsoft.com/office/drawing/2014/main" id="{5E5DE760-8111-4EA9-A5DF-4B91AB53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Google Shape;173;g40a09fbf8cc_1_24">
            <a:extLst xmlns:a="http://schemas.openxmlformats.org/drawingml/2006/main">
              <a:ext uri="{FF2B5EF4-FFF2-40B4-BE49-F238E27FC236}">
                <a16:creationId xmlns:a16="http://schemas.microsoft.com/office/drawing/2014/main" id="{3B8CDE2C-F916-4DDF-921D-326EF335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" y="94975"/>
            <a:ext cx="7120800" cy="72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u="sng">
                <a:latin typeface="Times New Roman"/>
                <a:ea typeface="Times New Roman"/>
                <a:cs typeface="Times New Roman"/>
              </a:rPr>
              <a:t>Prototype Screenshots</a:t>
            </a:r>
            <a:endParaRPr sz="2800" b="1" i="0" u="sng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4" name="Google Shape;174;g40a09fbf8cc_1_24">
            <a:extLst xmlns:a="http://schemas.openxmlformats.org/drawingml/2006/main">
              <a:ext uri="{FF2B5EF4-FFF2-40B4-BE49-F238E27FC236}">
                <a16:creationId xmlns:a16="http://schemas.microsoft.com/office/drawing/2014/main" id="{0AC95C2F-CB11-4198-B7FD-0E874B6E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Google Shape;175;g40a09fbf8cc_1_24">
            <a:extLst xmlns:a="http://schemas.openxmlformats.org/drawingml/2006/main">
              <a:ext uri="{FF2B5EF4-FFF2-40B4-BE49-F238E27FC236}">
                <a16:creationId xmlns:a16="http://schemas.microsoft.com/office/drawing/2014/main" id="{88F0C40A-5079-441B-AD17-F11F8664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5" y="967450"/>
            <a:ext cx="7803900" cy="363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D875EC8-8690-4744-88E7-14F8A93CC6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6378617524c32"/>
          <a:stretch xmlns:a="http://schemas.openxmlformats.org/drawingml/2006/main"/>
        </p:blipFill>
        <p:spPr>
          <a:xfrm xmlns:a="http://schemas.openxmlformats.org/drawingml/2006/main">
            <a:off x="317300" y="1276350"/>
            <a:ext cx="2565800" cy="272415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6D4AAA0-6DD8-4774-A926-DA9DA9DB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576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>
            <a:defPPr algn="ctr">
              <a:defRPr sz="1125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Citizen SOS + voice report</a:t>
            </a:r>
          </a:p>
        </p:txBody>
      </p:sp>
      <p:pic>
        <p:nvPic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00DE6A0-F461-4184-B32A-B1596CB94C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0f26d2eff40c1"/>
          <a:stretch xmlns:a="http://schemas.openxmlformats.org/drawingml/2006/main"/>
        </p:blipFill>
        <p:spPr>
          <a:xfrm xmlns:a="http://schemas.openxmlformats.org/drawingml/2006/main">
            <a:off x="3219450" y="1943532"/>
            <a:ext cx="2667000" cy="1389786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8012E932-0F49-4EBC-BEB8-AC92B0CA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576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>
            <a:defPPr algn="ctr">
              <a:defRPr sz="1125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Volunteer route guidance</a:t>
            </a:r>
          </a:p>
        </p:txBody>
      </p:sp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3B19954-5AC0-4E20-8F72-E9F794DDD9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5bb99c5fc42b2"/>
          <a:stretch xmlns:a="http://schemas.openxmlformats.org/drawingml/2006/main"/>
        </p:blipFill>
        <p:spPr>
          <a:xfrm xmlns:a="http://schemas.openxmlformats.org/drawingml/2006/main">
            <a:off x="6360319" y="1276350"/>
            <a:ext cx="2290763" cy="272415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D90196E-4CA9-441B-B8D1-2B02F9F0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576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>
            <a:defPPr algn="ctr">
              <a:defRPr sz="1125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BLE relay demonstration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4EB2A1E-4EDD-4020-A7EC-4639C564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4386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>
            <a:defPPr algn="ctr"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55555"/>
                </a:solidFill>
                <a:latin typeface="Arial"/>
                <a:ea typeface="Arial"/>
                <a:cs typeface="Arial"/>
              </a:rPr>
              <a:t>Screenshots show prototype screens. BLE range and delivery depend on compatible nearby Android phones and network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81968907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" name="Google Shape;180;p12">
            <a:extLst xmlns:a="http://schemas.openxmlformats.org/drawingml/2006/main">
              <a:ext uri="{FF2B5EF4-FFF2-40B4-BE49-F238E27FC236}">
                <a16:creationId xmlns:a16="http://schemas.microsoft.com/office/drawing/2014/main" id="{A586D845-B77E-4C99-B70E-AE866F6E0A9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763550" y="2092950"/>
            <a:ext cx="5616900" cy="9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sz="36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Thank You!</a:t>
            </a:r>
            <a:endParaRPr sz="36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81" name="Google Shape;181;p12">
            <a:extLst xmlns:a="http://schemas.openxmlformats.org/drawingml/2006/main">
              <a:ext uri="{FF2B5EF4-FFF2-40B4-BE49-F238E27FC236}">
                <a16:creationId xmlns:a16="http://schemas.microsoft.com/office/drawing/2014/main" id="{1B077784-F518-492A-8DAE-B1E928297D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a71b7965e3409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9401" y="0"/>
            <a:ext cx="1994600" cy="127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2" name="Google Shape;182;p12">
            <a:extLst xmlns:a="http://schemas.openxmlformats.org/drawingml/2006/main">
              <a:ext uri="{FF2B5EF4-FFF2-40B4-BE49-F238E27FC236}">
                <a16:creationId xmlns:a16="http://schemas.microsoft.com/office/drawing/2014/main" id="{14FB50F9-EBA0-4E6B-AE6B-1114B3A8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75" y="4863500"/>
            <a:ext cx="3355200" cy="2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 &amp; Engineering Department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Google Shape;183;p12">
            <a:extLst xmlns:a="http://schemas.openxmlformats.org/drawingml/2006/main">
              <a:ext uri="{FF2B5EF4-FFF2-40B4-BE49-F238E27FC236}">
                <a16:creationId xmlns:a16="http://schemas.microsoft.com/office/drawing/2014/main" id="{95960EAA-306C-4FD7-BFAD-EDBFBE57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425" y="4874600"/>
            <a:ext cx="48618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Group-24: AYUSH KATHOTE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Google Shape;184;p12">
            <a:extLst xmlns:a="http://schemas.openxmlformats.org/drawingml/2006/main">
              <a:ext uri="{FF2B5EF4-FFF2-40B4-BE49-F238E27FC236}">
                <a16:creationId xmlns:a16="http://schemas.microsoft.com/office/drawing/2014/main" id="{9E5088D5-CD88-41E7-8D5A-1151B270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5" y="1721850"/>
            <a:ext cx="9122100" cy="169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587"/>
          </a:solidFill>
          <a:ln xmlns:a="http://schemas.openxmlformats.org/drawingml/2006/main"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Google Shape;185;p12">
            <a:extLst xmlns:a="http://schemas.openxmlformats.org/drawingml/2006/main">
              <a:ext uri="{FF2B5EF4-FFF2-40B4-BE49-F238E27FC236}">
                <a16:creationId xmlns:a16="http://schemas.microsoft.com/office/drawing/2014/main" id="{66D06974-CBA3-41CA-A063-1F283FEF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550" y="2092950"/>
            <a:ext cx="5616900" cy="9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Thank You!</a:t>
            </a:r>
            <a:endParaRPr sz="36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86" name="Google Shape;186;p12">
            <a:extLst xmlns:a="http://schemas.openxmlformats.org/drawingml/2006/main">
              <a:ext uri="{FF2B5EF4-FFF2-40B4-BE49-F238E27FC236}">
                <a16:creationId xmlns:a16="http://schemas.microsoft.com/office/drawing/2014/main" id="{D43CBF3E-9559-4DDA-840E-7CEC26E6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75" y="4863494"/>
            <a:ext cx="1514100" cy="26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2026–2027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9853620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2026-10-08T14:09:53.6460000Z</dcterms:created>
  <dcterms:modified xsi:type="dcterms:W3CDTF">2026-10-08T14:09:53.6460000Z</dcterms:modified>
</coreProperties>
</file>
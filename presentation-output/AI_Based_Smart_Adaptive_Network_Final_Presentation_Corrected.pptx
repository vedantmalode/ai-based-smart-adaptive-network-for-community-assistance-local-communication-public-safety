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865c4f83a4237" /><Relationship Type="http://schemas.openxmlformats.org/officeDocument/2006/relationships/extended-properties" Target="/docProps/app.xml" Id="Rb108361083414d18" /><Relationship Type="http://schemas.openxmlformats.org/officeDocument/2006/relationships/officeDocument" Target="/ppt/presentation.xml" Id="R66496b117654438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226b7c531304aa5"/>
  </p:sldMasterIdLst>
  <p:notesMasterIdLst>
    <p:notesMasterId xmlns:r="http://schemas.openxmlformats.org/officeDocument/2006/relationships" r:id="R0825d3fbd34c4c8f"/>
  </p:notesMasterIdLst>
  <p:sldIdLst>
    <p:sldId xmlns:r="http://schemas.openxmlformats.org/officeDocument/2006/relationships" id="256" r:id="R1bf89ec9226648d7"/>
    <p:sldId xmlns:r="http://schemas.openxmlformats.org/officeDocument/2006/relationships" id="257" r:id="R177f18d1505544ae"/>
    <p:sldId xmlns:r="http://schemas.openxmlformats.org/officeDocument/2006/relationships" id="258" r:id="Rd53bcabc91294df2"/>
    <p:sldId xmlns:r="http://schemas.openxmlformats.org/officeDocument/2006/relationships" id="259" r:id="Rfafe9a2b5b424619"/>
    <p:sldId xmlns:r="http://schemas.openxmlformats.org/officeDocument/2006/relationships" id="260" r:id="Rf1efd460c8e6423b"/>
    <p:sldId xmlns:r="http://schemas.openxmlformats.org/officeDocument/2006/relationships" id="261" r:id="R33380e34a6944f34"/>
    <p:sldId xmlns:r="http://schemas.openxmlformats.org/officeDocument/2006/relationships" id="262" r:id="R23f5cca8d3634c03"/>
    <p:sldId xmlns:r="http://schemas.openxmlformats.org/officeDocument/2006/relationships" id="263" r:id="R5c5811c2c9cb45eb"/>
    <p:sldId xmlns:r="http://schemas.openxmlformats.org/officeDocument/2006/relationships" id="264" r:id="R717ccf51a0dd4d6f"/>
    <p:sldId xmlns:r="http://schemas.openxmlformats.org/officeDocument/2006/relationships" id="265" r:id="Ra449e1c654614432"/>
    <p:sldId xmlns:r="http://schemas.openxmlformats.org/officeDocument/2006/relationships" id="266" r:id="R9661069f40b545c5"/>
    <p:sldId xmlns:r="http://schemas.openxmlformats.org/officeDocument/2006/relationships" id="267" r:id="R7b00d5928ced4bc8"/>
    <p:sldId xmlns:r="http://schemas.openxmlformats.org/officeDocument/2006/relationships" id="268" r:id="Rfee16d2c1e754678"/>
    <p:sldId xmlns:r="http://schemas.openxmlformats.org/officeDocument/2006/relationships" id="269" r:id="Raccd3f9d21324f25"/>
  </p:sldIdLst>
  <p:sldSz cx="9144000" cy="5143500"/>
  <p:notesSz cx="6858000" cy="9144000"/>
  <p:embeddedFontLst>
    <p:embeddedFont>
      <p:font typeface="Montserrat"/>
      <p:regular xmlns:r="http://schemas.openxmlformats.org/officeDocument/2006/relationships" r:id="Re8dda6231de74bb2"/>
      <p:bold xmlns:r="http://schemas.openxmlformats.org/officeDocument/2006/relationships" r:id="R69f39d0a71184512"/>
      <p:italic xmlns:r="http://schemas.openxmlformats.org/officeDocument/2006/relationships" r:id="Re8527d2e01c64983"/>
      <p:boldItalic xmlns:r="http://schemas.openxmlformats.org/officeDocument/2006/relationships" r:id="Rda488bdc6f664b90"/>
    </p:embeddedFont>
    <p:embeddedFont>
      <p:font typeface="Roboto Mono"/>
      <p:regular xmlns:r="http://schemas.openxmlformats.org/officeDocument/2006/relationships" r:id="R9489c2adabef411d"/>
      <p:bold xmlns:r="http://schemas.openxmlformats.org/officeDocument/2006/relationships" r:id="R21b82718031e4c28"/>
      <p:italic xmlns:r="http://schemas.openxmlformats.org/officeDocument/2006/relationships" r:id="Rcc9fe780efb34057"/>
      <p:boldItalic xmlns:r="http://schemas.openxmlformats.org/officeDocument/2006/relationships" r:id="Rad691768fbbc43d6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20307B0E-1C24-4BA2-8191-9E27D8327ACF}">
  <a:tblStyle styleId="{20307B0E-1C24-4BA2-8191-9E27D8327AC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270B8EE-E738-40E2-BA1B-1580A0A2E2C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FFAB40">
              <a:alpha val="40000"/>
            </a:srgbClr>
          </a:solidFill>
        </a:fill>
      </a:tcStyle>
    </a:band1H>
    <a:band2H>
      <a:tcTxStyle b="off" i="off"/>
    </a:band2H>
    <a:band1V>
      <a:tcTxStyle b="off" i="off"/>
      <a:tcStyle>
        <a:tcBdr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AB40">
              <a:alpha val="40000"/>
            </a:srgbClr>
          </a:solidFill>
        </a:fill>
      </a:tcStyle>
    </a:band1V>
    <a:band2V>
      <a:tcTxStyle b="off" i="off"/>
    </a:band2V>
    <a:lastCol>
      <a:tcTxStyle b="on" i="off"/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AB40"/>
          </a:solidFill>
        </a:fill>
      </a:tcStyle>
    </a:firstRow>
    <a:neCell>
      <a:tcTxStyle b="off" i="off"/>
    </a:neCell>
    <a:nwCell>
      <a:tcTxStyle b="off" i="off"/>
    </a:nwCell>
  </a:tblStyle>
  <a:tblStyle styleId="{855B57AB-33F6-4EFC-92FD-E4C6D41678EF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ed433d0b14656" /><Relationship Type="http://schemas.openxmlformats.org/officeDocument/2006/relationships/slideMaster" Target="/ppt/slideMasters/slideMaster1.xml" Id="Re226b7c531304aa5" /><Relationship Type="http://schemas.openxmlformats.org/officeDocument/2006/relationships/notesMaster" Target="/ppt/notesMasters/notesMaster1.xml" Id="R0825d3fbd34c4c8f" /><Relationship Type="http://schemas.openxmlformats.org/officeDocument/2006/relationships/presProps" Target="/ppt/presProps.xml" Id="R40cb40a1f58d4c63" /><Relationship Type="http://schemas.openxmlformats.org/officeDocument/2006/relationships/viewProps" Target="/ppt/viewProps.xml" Id="R00144686d5124876" /><Relationship Type="http://schemas.openxmlformats.org/officeDocument/2006/relationships/tableStyles" Target="/ppt/tableStyles.xml" Id="Rc465e4af14e4446c" /><Relationship Type="http://schemas.openxmlformats.org/officeDocument/2006/relationships/font" Target="/ppt/fonts/font.dat" Id="Re8dda6231de74bb2" /><Relationship Type="http://schemas.openxmlformats.org/officeDocument/2006/relationships/font" Target="/ppt/fonts/font2.dat" Id="R69f39d0a71184512" /><Relationship Type="http://schemas.openxmlformats.org/officeDocument/2006/relationships/font" Target="/ppt/fonts/font3.dat" Id="Re8527d2e01c64983" /><Relationship Type="http://schemas.openxmlformats.org/officeDocument/2006/relationships/font" Target="/ppt/fonts/font4.dat" Id="Rda488bdc6f664b90" /><Relationship Type="http://schemas.openxmlformats.org/officeDocument/2006/relationships/font" Target="/ppt/fonts/font5.dat" Id="R9489c2adabef411d" /><Relationship Type="http://schemas.openxmlformats.org/officeDocument/2006/relationships/font" Target="/ppt/fonts/font6.dat" Id="R21b82718031e4c28" /><Relationship Type="http://schemas.openxmlformats.org/officeDocument/2006/relationships/font" Target="/ppt/fonts/font7.dat" Id="Rcc9fe780efb34057" /><Relationship Type="http://schemas.openxmlformats.org/officeDocument/2006/relationships/font" Target="/ppt/fonts/font8.dat" Id="Rad691768fbbc43d6" /><Relationship Type="http://schemas.openxmlformats.org/officeDocument/2006/relationships/slide" Target="/ppt/slides/slide1.xml" Id="R1bf89ec9226648d7" /><Relationship Type="http://schemas.openxmlformats.org/officeDocument/2006/relationships/slide" Target="/ppt/slides/slide2.xml" Id="R177f18d1505544ae" /><Relationship Type="http://schemas.openxmlformats.org/officeDocument/2006/relationships/slide" Target="/ppt/slides/slide3.xml" Id="Rd53bcabc91294df2" /><Relationship Type="http://schemas.openxmlformats.org/officeDocument/2006/relationships/slide" Target="/ppt/slides/slide4.xml" Id="Rfafe9a2b5b424619" /><Relationship Type="http://schemas.openxmlformats.org/officeDocument/2006/relationships/slide" Target="/ppt/slides/slide5.xml" Id="Rf1efd460c8e6423b" /><Relationship Type="http://schemas.openxmlformats.org/officeDocument/2006/relationships/slide" Target="/ppt/slides/slide6.xml" Id="R33380e34a6944f34" /><Relationship Type="http://schemas.openxmlformats.org/officeDocument/2006/relationships/slide" Target="/ppt/slides/slide7.xml" Id="R23f5cca8d3634c03" /><Relationship Type="http://schemas.openxmlformats.org/officeDocument/2006/relationships/slide" Target="/ppt/slides/slide8.xml" Id="R5c5811c2c9cb45eb" /><Relationship Type="http://schemas.openxmlformats.org/officeDocument/2006/relationships/slide" Target="/ppt/slides/slide9.xml" Id="R717ccf51a0dd4d6f" /><Relationship Type="http://schemas.openxmlformats.org/officeDocument/2006/relationships/slide" Target="/ppt/slides/slide10.xml" Id="Ra449e1c654614432" /><Relationship Type="http://schemas.openxmlformats.org/officeDocument/2006/relationships/slide" Target="/ppt/slides/slide11.xml" Id="R9661069f40b545c5" /><Relationship Type="http://schemas.openxmlformats.org/officeDocument/2006/relationships/slide" Target="/ppt/slides/slide12.xml" Id="R7b00d5928ced4bc8" /><Relationship Type="http://schemas.openxmlformats.org/officeDocument/2006/relationships/slide" Target="/ppt/slides/slide13.xml" Id="Rfee16d2c1e754678" /><Relationship Type="http://schemas.openxmlformats.org/officeDocument/2006/relationships/slide" Target="/ppt/slides/slide14.xml" Id="Raccd3f9d21324f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88d17f33b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41890de7ba4797" /><Relationship Type="http://schemas.openxmlformats.org/officeDocument/2006/relationships/notesMaster" Target="/ppt/notesMasters/notesMaster1.xml" Id="R2dcaa77d3149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6b779b2854435d" /><Relationship Type="http://schemas.openxmlformats.org/officeDocument/2006/relationships/notesMaster" Target="/ppt/notesMasters/notesMaster1.xml" Id="R2ebdb9372a72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7451179b0b4d4e" /><Relationship Type="http://schemas.openxmlformats.org/officeDocument/2006/relationships/notesMaster" Target="/ppt/notesMasters/notesMaster1.xml" Id="Rd4389adf62254a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67830c6ab14bd3" /><Relationship Type="http://schemas.openxmlformats.org/officeDocument/2006/relationships/notesMaster" Target="/ppt/notesMasters/notesMaster1.xml" Id="Rfc29f8e9deb5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c6d4841ec8492e" /><Relationship Type="http://schemas.openxmlformats.org/officeDocument/2006/relationships/notesMaster" Target="/ppt/notesMasters/notesMaster1.xml" Id="R9773a8b00ade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a74173142644b3" /><Relationship Type="http://schemas.openxmlformats.org/officeDocument/2006/relationships/notesMaster" Target="/ppt/notesMasters/notesMaster1.xml" Id="R19ff8d2e723949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363747627449d" /><Relationship Type="http://schemas.openxmlformats.org/officeDocument/2006/relationships/notesMaster" Target="/ppt/notesMasters/notesMaster1.xml" Id="R6a018658b5a74d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9b57800a5244c1" /><Relationship Type="http://schemas.openxmlformats.org/officeDocument/2006/relationships/notesMaster" Target="/ppt/notesMasters/notesMaster1.xml" Id="R92253458b38047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dc4b07638f4b23" /><Relationship Type="http://schemas.openxmlformats.org/officeDocument/2006/relationships/notesMaster" Target="/ppt/notesMasters/notesMaster1.xml" Id="R24eb771a431e4d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2d12dd92ef4d2b" /><Relationship Type="http://schemas.openxmlformats.org/officeDocument/2006/relationships/notesMaster" Target="/ppt/notesMasters/notesMaster1.xml" Id="Recd80fa3e16349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2517c0898141da" /><Relationship Type="http://schemas.openxmlformats.org/officeDocument/2006/relationships/notesMaster" Target="/ppt/notesMasters/notesMaster1.xml" Id="Rd6dda6bfbb6d4f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0e0b0e26aa4ec5" /><Relationship Type="http://schemas.openxmlformats.org/officeDocument/2006/relationships/notesMaster" Target="/ppt/notesMasters/notesMaster1.xml" Id="Rbb259acae2e64b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5c2d8f3be4473e" /><Relationship Type="http://schemas.openxmlformats.org/officeDocument/2006/relationships/notesMaster" Target="/ppt/notesMasters/notesMaster1.xml" Id="R60eeaa62372e44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de8dd0ed99497c" /><Relationship Type="http://schemas.openxmlformats.org/officeDocument/2006/relationships/notesMaster" Target="/ppt/notesMasters/notesMaster1.xml" Id="R694c120c512549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is the index page. The slide sections follow the order in this list.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Explain the emergency reporting problem, then introduce the project goals and team context.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These studies explore AI and language methods for crisis information. Our gap is the end-to-end local response workflow and its evaluation.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Explain that the system provides suggestions, while management makes the final dispatch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Follow the citizen report through AI, local API, and management. The lower row shows offline, BLE, and map components.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These are the main tools and a simple suggested split of work for the five group members.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Demonstrate a citizen report, management review, volunteer match, route, and the separate offline paths.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Describe checks that should be performed. Accuracy and real-device results are not supplied.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Summarize the prototype and clearly state that more field and user testing is needed.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Sources include research papers, official software documentation, and the Government of India 112 service. Full links: https://mimran.me/papers/imran_castillo_lucas_meier_vieweg_www2014.pdf ; https://ojs.aaai.org/index.php/ICWSM/article/download/14983/14833/18502 ; https://arxiv.org/abs/2309.05494 ; https://react.dev/learn/installation ; https://leafletjs.com/reference-versions.html ; https://project-osrm.org/docs/v5.5.1/api/ ; https://developer.mozilla.org/en-US/docs/Web/API/IndexedDB_API/ ; https://developer.android.com/develop/connectivity/bluetooth/ble/ble-overview?authuser=29 ; https://112.gov.in/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No publication or IPR records were shared, so the table marks those statuses as unconfirmed.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These screenshots show prototype screens. A BLE relay does not prove server or emergency-service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0f674ec714e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056baff0e4f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24d5b42fd47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6db3e05d448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9308e230d41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09d94bb6d4c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d5afe012340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fc250a2d145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d10d1e62847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63bdd896e4b49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4">
            <a:extLst xmlns:a="http://schemas.openxmlformats.org/drawingml/2006/main">
              <a:ext uri="{FF2B5EF4-FFF2-40B4-BE49-F238E27FC236}">
                <a16:creationId xmlns:a16="http://schemas.microsoft.com/office/drawing/2014/main" id="{56DE9F46-CEAF-4205-900F-05AE344924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E3F152D2-D3E9-4801-989C-4B9E12C525D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5" name="Google Shape;15;p15">
            <a:extLst xmlns:a="http://schemas.openxmlformats.org/drawingml/2006/main">
              <a:ext uri="{FF2B5EF4-FFF2-40B4-BE49-F238E27FC236}">
                <a16:creationId xmlns:a16="http://schemas.microsoft.com/office/drawing/2014/main" id="{0F5214A4-5136-47FD-BBCF-A4A4882FC7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6" name="Google Shape;16;p15">
            <a:extLst xmlns:a="http://schemas.openxmlformats.org/drawingml/2006/main">
              <a:ext uri="{FF2B5EF4-FFF2-40B4-BE49-F238E27FC236}">
                <a16:creationId xmlns:a16="http://schemas.microsoft.com/office/drawing/2014/main" id="{15F8F973-1E2E-4B00-A591-1F12842D9E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1B505662-71A2-48D3-87F6-8C440D582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16">
            <a:extLst xmlns:a="http://schemas.openxmlformats.org/drawingml/2006/main">
              <a:ext uri="{FF2B5EF4-FFF2-40B4-BE49-F238E27FC236}">
                <a16:creationId xmlns:a16="http://schemas.microsoft.com/office/drawing/2014/main" id="{15FC81C6-F9F1-4ADE-8036-1B66D841D8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17">
            <a:extLst xmlns:a="http://schemas.openxmlformats.org/drawingml/2006/main">
              <a:ext uri="{FF2B5EF4-FFF2-40B4-BE49-F238E27FC236}">
                <a16:creationId xmlns:a16="http://schemas.microsoft.com/office/drawing/2014/main" id="{2C49B807-865F-43FD-A9D0-1D521BD52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17">
            <a:extLst xmlns:a="http://schemas.openxmlformats.org/drawingml/2006/main">
              <a:ext uri="{FF2B5EF4-FFF2-40B4-BE49-F238E27FC236}">
                <a16:creationId xmlns:a16="http://schemas.microsoft.com/office/drawing/2014/main" id="{1A1633E9-30D5-4915-8202-747893AD1E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17">
            <a:extLst xmlns:a="http://schemas.openxmlformats.org/drawingml/2006/main">
              <a:ext uri="{FF2B5EF4-FFF2-40B4-BE49-F238E27FC236}">
                <a16:creationId xmlns:a16="http://schemas.microsoft.com/office/drawing/2014/main" id="{E68D1BAD-A5F5-45A4-882F-C8AD25B58D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17">
            <a:extLst xmlns:a="http://schemas.openxmlformats.org/drawingml/2006/main">
              <a:ext uri="{FF2B5EF4-FFF2-40B4-BE49-F238E27FC236}">
                <a16:creationId xmlns:a16="http://schemas.microsoft.com/office/drawing/2014/main" id="{D99E96C2-BE45-4FF2-B0E6-F4450A03DA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8">
            <a:extLst xmlns:a="http://schemas.openxmlformats.org/drawingml/2006/main">
              <a:ext uri="{FF2B5EF4-FFF2-40B4-BE49-F238E27FC236}">
                <a16:creationId xmlns:a16="http://schemas.microsoft.com/office/drawing/2014/main" id="{15775C17-E752-4946-BBF1-578C7DF2B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8">
            <a:extLst xmlns:a="http://schemas.openxmlformats.org/drawingml/2006/main">
              <a:ext uri="{FF2B5EF4-FFF2-40B4-BE49-F238E27FC236}">
                <a16:creationId xmlns:a16="http://schemas.microsoft.com/office/drawing/2014/main" id="{DB153B5C-1602-4A8C-92F1-8AA87309F9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9">
            <a:extLst xmlns:a="http://schemas.openxmlformats.org/drawingml/2006/main">
              <a:ext uri="{FF2B5EF4-FFF2-40B4-BE49-F238E27FC236}">
                <a16:creationId xmlns:a16="http://schemas.microsoft.com/office/drawing/2014/main" id="{D6A65623-63C6-45F5-840F-E16503ADC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9">
            <a:extLst xmlns:a="http://schemas.openxmlformats.org/drawingml/2006/main">
              <a:ext uri="{FF2B5EF4-FFF2-40B4-BE49-F238E27FC236}">
                <a16:creationId xmlns:a16="http://schemas.microsoft.com/office/drawing/2014/main" id="{6B7A348F-8C86-4A94-BC55-5EBA809653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9">
            <a:extLst xmlns:a="http://schemas.openxmlformats.org/drawingml/2006/main">
              <a:ext uri="{FF2B5EF4-FFF2-40B4-BE49-F238E27FC236}">
                <a16:creationId xmlns:a16="http://schemas.microsoft.com/office/drawing/2014/main" id="{D398A94A-AC19-4279-94E8-CBC62E664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0">
            <a:extLst xmlns:a="http://schemas.openxmlformats.org/drawingml/2006/main">
              <a:ext uri="{FF2B5EF4-FFF2-40B4-BE49-F238E27FC236}">
                <a16:creationId xmlns:a16="http://schemas.microsoft.com/office/drawing/2014/main" id="{E287AFF4-A1FF-4646-93A4-BDB0DE2AB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20">
            <a:extLst xmlns:a="http://schemas.openxmlformats.org/drawingml/2006/main">
              <a:ext uri="{FF2B5EF4-FFF2-40B4-BE49-F238E27FC236}">
                <a16:creationId xmlns:a16="http://schemas.microsoft.com/office/drawing/2014/main" id="{BBF28F43-37CD-4100-9610-9BEDED94F4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21">
            <a:extLst xmlns:a="http://schemas.openxmlformats.org/drawingml/2006/main">
              <a:ext uri="{FF2B5EF4-FFF2-40B4-BE49-F238E27FC236}">
                <a16:creationId xmlns:a16="http://schemas.microsoft.com/office/drawing/2014/main" id="{1988E53D-77E7-4977-8F4F-58BEB1C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21">
            <a:extLst xmlns:a="http://schemas.openxmlformats.org/drawingml/2006/main">
              <a:ext uri="{FF2B5EF4-FFF2-40B4-BE49-F238E27FC236}">
                <a16:creationId xmlns:a16="http://schemas.microsoft.com/office/drawing/2014/main" id="{DA97A745-FDC1-493C-ACCC-3C527E784A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21">
            <a:extLst xmlns:a="http://schemas.openxmlformats.org/drawingml/2006/main">
              <a:ext uri="{FF2B5EF4-FFF2-40B4-BE49-F238E27FC236}">
                <a16:creationId xmlns:a16="http://schemas.microsoft.com/office/drawing/2014/main" id="{75CD49E8-5370-418D-AA9C-65215045DE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21">
            <a:extLst xmlns:a="http://schemas.openxmlformats.org/drawingml/2006/main">
              <a:ext uri="{FF2B5EF4-FFF2-40B4-BE49-F238E27FC236}">
                <a16:creationId xmlns:a16="http://schemas.microsoft.com/office/drawing/2014/main" id="{3BECBEFF-8346-4B64-8393-35246A99BE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21">
            <a:extLst xmlns:a="http://schemas.openxmlformats.org/drawingml/2006/main">
              <a:ext uri="{FF2B5EF4-FFF2-40B4-BE49-F238E27FC236}">
                <a16:creationId xmlns:a16="http://schemas.microsoft.com/office/drawing/2014/main" id="{8150D9F7-2203-4AD1-BA3D-195767F9A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22">
            <a:extLst xmlns:a="http://schemas.openxmlformats.org/drawingml/2006/main">
              <a:ext uri="{FF2B5EF4-FFF2-40B4-BE49-F238E27FC236}">
                <a16:creationId xmlns:a16="http://schemas.microsoft.com/office/drawing/2014/main" id="{570C20C7-14EB-4E18-8906-9885DA37BC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22">
            <a:extLst xmlns:a="http://schemas.openxmlformats.org/drawingml/2006/main">
              <a:ext uri="{FF2B5EF4-FFF2-40B4-BE49-F238E27FC236}">
                <a16:creationId xmlns:a16="http://schemas.microsoft.com/office/drawing/2014/main" id="{CAA6F79F-6DE1-4446-B0FA-C7FDA17AA2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23">
            <a:extLst xmlns:a="http://schemas.openxmlformats.org/drawingml/2006/main">
              <a:ext uri="{FF2B5EF4-FFF2-40B4-BE49-F238E27FC236}">
                <a16:creationId xmlns:a16="http://schemas.microsoft.com/office/drawing/2014/main" id="{060F0914-68CA-47F8-9974-980FD218D1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23">
            <a:extLst xmlns:a="http://schemas.openxmlformats.org/drawingml/2006/main">
              <a:ext uri="{FF2B5EF4-FFF2-40B4-BE49-F238E27FC236}">
                <a16:creationId xmlns:a16="http://schemas.microsoft.com/office/drawing/2014/main" id="{9F12CCC7-5A7F-43B8-96F3-2D74F696D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23">
            <a:extLst xmlns:a="http://schemas.openxmlformats.org/drawingml/2006/main">
              <a:ext uri="{FF2B5EF4-FFF2-40B4-BE49-F238E27FC236}">
                <a16:creationId xmlns:a16="http://schemas.microsoft.com/office/drawing/2014/main" id="{F7761C7B-B34F-46E3-9726-F29C4E70E9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53bb6cd7a2640dd" /><Relationship Type="http://schemas.openxmlformats.org/officeDocument/2006/relationships/image" Target="/ppt/media/image.png" Id="R3c928f4a40154d10" /><Relationship Type="http://schemas.openxmlformats.org/officeDocument/2006/relationships/theme" Target="/ppt/slideMasters/theme/theme2.xml" Id="R3f1dfb9af6b3473a" /><Relationship Type="http://schemas.openxmlformats.org/officeDocument/2006/relationships/slideLayout" Target="/ppt/slideLayouts/slideLayout1.xml" Id="R4238281929d44dae" /><Relationship Type="http://schemas.openxmlformats.org/officeDocument/2006/relationships/slideLayout" Target="/ppt/slideLayouts/slideLayout2.xml" Id="R200456a747c74d5f" /><Relationship Type="http://schemas.openxmlformats.org/officeDocument/2006/relationships/slideLayout" Target="/ppt/slideLayouts/slideLayout3.xml" Id="R26d6c3f5b96a41be" /><Relationship Type="http://schemas.openxmlformats.org/officeDocument/2006/relationships/slideLayout" Target="/ppt/slideLayouts/slideLayout4.xml" Id="R6bbbfd66332f4180" /><Relationship Type="http://schemas.openxmlformats.org/officeDocument/2006/relationships/slideLayout" Target="/ppt/slideLayouts/slideLayout5.xml" Id="Rd222992d55344100" /><Relationship Type="http://schemas.openxmlformats.org/officeDocument/2006/relationships/slideLayout" Target="/ppt/slideLayouts/slideLayout6.xml" Id="R9a142bacb26744c5" /><Relationship Type="http://schemas.openxmlformats.org/officeDocument/2006/relationships/slideLayout" Target="/ppt/slideLayouts/slideLayout7.xml" Id="R7cd282c9e85b4984" /><Relationship Type="http://schemas.openxmlformats.org/officeDocument/2006/relationships/slideLayout" Target="/ppt/slideLayouts/slideLayout8.xml" Id="Re622ef4d01604d9e" /><Relationship Type="http://schemas.openxmlformats.org/officeDocument/2006/relationships/slideLayout" Target="/ppt/slideLayouts/slideLayout9.xml" Id="Ra0b6a158108a48f3" /><Relationship Type="http://schemas.openxmlformats.org/officeDocument/2006/relationships/slideLayout" Target="/ppt/slideLayouts/slideLayout10.xml" Id="Rcc03116a409f47c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3">
            <a:extLst xmlns:a="http://schemas.openxmlformats.org/drawingml/2006/main">
              <a:ext uri="{FF2B5EF4-FFF2-40B4-BE49-F238E27FC236}">
                <a16:creationId xmlns:a16="http://schemas.microsoft.com/office/drawing/2014/main" id="{CDBF66BE-AB60-4D70-A5C7-97F31325D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3">
            <a:extLst xmlns:a="http://schemas.openxmlformats.org/drawingml/2006/main">
              <a:ext uri="{FF2B5EF4-FFF2-40B4-BE49-F238E27FC236}">
                <a16:creationId xmlns:a16="http://schemas.microsoft.com/office/drawing/2014/main" id="{9735A2AD-574E-4A3E-BDBA-BFA34BC36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3">
            <a:extLst xmlns:a="http://schemas.openxmlformats.org/drawingml/2006/main">
              <a:ext uri="{FF2B5EF4-FFF2-40B4-BE49-F238E27FC236}">
                <a16:creationId xmlns:a16="http://schemas.microsoft.com/office/drawing/2014/main" id="{7D573D57-29CE-43DD-B3FE-D2F8DD7CBB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9" name="Google Shape;9;p13">
            <a:extLst xmlns:a="http://schemas.openxmlformats.org/drawingml/2006/main">
              <a:ext uri="{FF2B5EF4-FFF2-40B4-BE49-F238E27FC236}">
                <a16:creationId xmlns:a16="http://schemas.microsoft.com/office/drawing/2014/main" id="{DC860258-E54F-46A7-A78B-422E82714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3bb6cd7a2640dd">
            <a:alphaModFix/>
          </a:blip>
          <a:srcRect xmlns:a="http://schemas.openxmlformats.org/drawingml/2006/main" l="0" t="96296" r="0" b="0"/>
          <a:stretch xmlns:a="http://schemas.openxmlformats.org/drawingml/2006/main"/>
        </p:blipFill>
        <p:spPr>
          <a:xfrm xmlns:a="http://schemas.openxmlformats.org/drawingml/2006/main">
            <a:off x="0" y="4957011"/>
            <a:ext cx="9144000" cy="1941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59FF1560-1F14-4AFF-85FA-B5AEE7335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928f4a40154d10">
            <a:alphaModFix/>
          </a:blip>
          <a:srcRect xmlns:a="http://schemas.openxmlformats.org/drawingml/2006/main" l="11111" t="9880" r="10219" b="13313"/>
          <a:stretch xmlns:a="http://schemas.openxmlformats.org/drawingml/2006/main"/>
        </p:blipFill>
        <p:spPr>
          <a:xfrm xmlns:a="http://schemas.openxmlformats.org/drawingml/2006/main">
            <a:off x="7125810" y="79218"/>
            <a:ext cx="1887248" cy="7913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8281929d44dae"/>
    <p:sldLayoutId xmlns:r="http://schemas.openxmlformats.org/officeDocument/2006/relationships" id="2147483650" r:id="R200456a747c74d5f"/>
    <p:sldLayoutId xmlns:r="http://schemas.openxmlformats.org/officeDocument/2006/relationships" id="2147483651" r:id="R26d6c3f5b96a41be"/>
    <p:sldLayoutId xmlns:r="http://schemas.openxmlformats.org/officeDocument/2006/relationships" id="2147483652" r:id="R6bbbfd66332f4180"/>
    <p:sldLayoutId xmlns:r="http://schemas.openxmlformats.org/officeDocument/2006/relationships" id="2147483653" r:id="Rd222992d55344100"/>
    <p:sldLayoutId xmlns:r="http://schemas.openxmlformats.org/officeDocument/2006/relationships" id="2147483654" r:id="R9a142bacb26744c5"/>
    <p:sldLayoutId xmlns:r="http://schemas.openxmlformats.org/officeDocument/2006/relationships" id="2147483655" r:id="R7cd282c9e85b4984"/>
    <p:sldLayoutId xmlns:r="http://schemas.openxmlformats.org/officeDocument/2006/relationships" id="2147483656" r:id="Re622ef4d01604d9e"/>
    <p:sldLayoutId xmlns:r="http://schemas.openxmlformats.org/officeDocument/2006/relationships" id="2147483657" r:id="Ra0b6a158108a48f3"/>
    <p:sldLayoutId xmlns:r="http://schemas.openxmlformats.org/officeDocument/2006/relationships" id="2147483658" r:id="Rcc03116a409f47c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45468f1464742" /><Relationship Type="http://schemas.openxmlformats.org/officeDocument/2006/relationships/image" Target="/ppt/media/image2.jpeg" Id="Re7db48a62c80486a" /><Relationship Type="http://schemas.openxmlformats.org/officeDocument/2006/relationships/notesSlide" Target="/ppt/notesSlides/notesSlide1.xml" Id="R5d3f477fec7f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bb3cbec05424d" /><Relationship Type="http://schemas.openxmlformats.org/officeDocument/2006/relationships/image" Target="/ppt/media/image3.jpeg" Id="Rab59fe4f23724a8a" /><Relationship Type="http://schemas.openxmlformats.org/officeDocument/2006/relationships/notesSlide" Target="/ppt/notesSlides/notesSlide2.xml" Id="Re766cdb3481749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0f6e5aa94cbd" /><Relationship Type="http://schemas.openxmlformats.org/officeDocument/2006/relationships/image" Target="/ppt/media/image3.jpeg" Id="R8e4faa7caf9647f5" /><Relationship Type="http://schemas.openxmlformats.org/officeDocument/2006/relationships/notesSlide" Target="/ppt/notesSlides/notesSlide3.xml" Id="R41450c7ef404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4db61abc54732" /><Relationship Type="http://schemas.openxmlformats.org/officeDocument/2006/relationships/image" Target="/ppt/media/image3.jpeg" Id="R414f38dd1e4541c7" /><Relationship Type="http://schemas.openxmlformats.org/officeDocument/2006/relationships/notesSlide" Target="/ppt/notesSlides/notesSlide4.xml" Id="R0429006406af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cd34125a5464c" /><Relationship Type="http://schemas.openxmlformats.org/officeDocument/2006/relationships/image" Target="/ppt/media/image3.jpeg" Id="R4ab898e8530d44a1" /><Relationship Type="http://schemas.openxmlformats.org/officeDocument/2006/relationships/notesSlide" Target="/ppt/notesSlides/notesSlide5.xml" Id="R1132437b86f147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ad2da2a5a4896" /><Relationship Type="http://schemas.openxmlformats.org/officeDocument/2006/relationships/image" Target="/ppt/media/image3.jpeg" Id="R7657368bb65d461e" /><Relationship Type="http://schemas.openxmlformats.org/officeDocument/2006/relationships/notesSlide" Target="/ppt/notesSlides/notesSlide6.xml" Id="Rb764af9702fc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8f4ec10ed46ac" /><Relationship Type="http://schemas.openxmlformats.org/officeDocument/2006/relationships/image" Target="/ppt/media/image3.jpeg" Id="R10e841cacbcf4da9" /><Relationship Type="http://schemas.openxmlformats.org/officeDocument/2006/relationships/notesSlide" Target="/ppt/notesSlides/notesSlide7.xml" Id="R643b610141b247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d56be4c514582" /><Relationship Type="http://schemas.openxmlformats.org/officeDocument/2006/relationships/image" Target="/ppt/media/image3.jpeg" Id="Rc456c25b7a3444c4" /><Relationship Type="http://schemas.openxmlformats.org/officeDocument/2006/relationships/notesSlide" Target="/ppt/notesSlides/notesSlide8.xml" Id="R4247d7a3029f4b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421e118be4389" /><Relationship Type="http://schemas.openxmlformats.org/officeDocument/2006/relationships/image" Target="/ppt/media/image3.jpeg" Id="R90ad71f5f4dc4902" /><Relationship Type="http://schemas.openxmlformats.org/officeDocument/2006/relationships/notesSlide" Target="/ppt/notesSlides/notesSlide9.xml" Id="R3063c318294d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e7df50c354650" /><Relationship Type="http://schemas.openxmlformats.org/officeDocument/2006/relationships/image" Target="/ppt/media/image3.jpeg" Id="Rb65540867b9f4fd9" /><Relationship Type="http://schemas.openxmlformats.org/officeDocument/2006/relationships/notesSlide" Target="/ppt/notesSlides/notesSlide10.xml" Id="Ra035043fe6e448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4c548c9ce435b" /><Relationship Type="http://schemas.openxmlformats.org/officeDocument/2006/relationships/image" Target="/ppt/media/image3.jpeg" Id="R20271c9b07df45f2" /><Relationship Type="http://schemas.openxmlformats.org/officeDocument/2006/relationships/notesSlide" Target="/ppt/notesSlides/notesSlide11.xml" Id="Raa2117ff7aab41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5e1d2f7374afa" /><Relationship Type="http://schemas.openxmlformats.org/officeDocument/2006/relationships/image" Target="/ppt/media/image3.jpeg" Id="R51c26aad58fe4cae" /><Relationship Type="http://schemas.openxmlformats.org/officeDocument/2006/relationships/notesSlide" Target="/ppt/notesSlides/notesSlide12.xml" Id="R155ae11c4c494e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420d75f8e44b5" /><Relationship Type="http://schemas.openxmlformats.org/officeDocument/2006/relationships/image" Target="/ppt/media/image3.jpeg" Id="Rff2fc6cc8ce048ed" /><Relationship Type="http://schemas.openxmlformats.org/officeDocument/2006/relationships/image" Target="/ppt/media/image2.png" Id="R0a42aaa7828e4a1e" /><Relationship Type="http://schemas.openxmlformats.org/officeDocument/2006/relationships/image" Target="/ppt/media/image3.png" Id="R202fcc0a3f954a07" /><Relationship Type="http://schemas.openxmlformats.org/officeDocument/2006/relationships/image" Target="/ppt/media/image4.png" Id="Ra6f886692e3944ea" /><Relationship Type="http://schemas.openxmlformats.org/officeDocument/2006/relationships/notesSlide" Target="/ppt/notesSlides/notesSlide13.xml" Id="R1ceac6d7fdb44f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d19bd56e804517" /><Relationship Type="http://schemas.openxmlformats.org/officeDocument/2006/relationships/image" Target="/ppt/media/image3.jpeg" Id="R5af016fe68dd4e2e" /><Relationship Type="http://schemas.openxmlformats.org/officeDocument/2006/relationships/notesSlide" Target="/ppt/notesSlides/notesSlide14.xml" Id="R25ac6a2d15e445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1">
            <a:extLst xmlns:a="http://schemas.openxmlformats.org/drawingml/2006/main">
              <a:ext uri="{FF2B5EF4-FFF2-40B4-BE49-F238E27FC236}">
                <a16:creationId xmlns:a16="http://schemas.microsoft.com/office/drawing/2014/main" id="{278E2C85-D86B-4B97-960C-3E632C2A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6175"/>
            <a:ext cx="9144000" cy="31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2400" b="0" i="0" u="sng" strike="noStrike" cap="none">
              <a:solidFill>
                <a:srgbClr val="7C00A5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0" i="0" u="sng" strike="noStrike" cap="none">
                <a:solidFill>
                  <a:srgbClr val="7C00A5"/>
                </a:solidFill>
                <a:latin typeface="Times New Roman"/>
                <a:ea typeface="Times New Roman"/>
                <a:cs typeface="Times New Roman"/>
              </a:rPr>
              <a:t>Major Project Final Progress Seminar</a:t>
            </a:r>
            <a:endParaRPr sz="2400" b="0" i="0" u="none" strike="noStrike" cap="none">
              <a:solidFill>
                <a:srgbClr val="7C00A5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Group-1 : YASH RATHOD</a:t>
            </a:r>
            <a:endParaRPr sz="20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Swarangi Rangari | Swayam Ratnaparkhi | Vedant Bombeka | Rahul Garpalliwar</a:t>
            </a:r>
            <a:endParaRPr sz="17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9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Project Guide - </a:t>
            </a:r>
            <a:r>
              <a:rPr sz="19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Dr. Mahendra Makesar</a:t>
            </a:r>
            <a:endParaRPr sz="1900" b="0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</a:rPr>
              <a:t>Session: 2026-2027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Google Shape;53;p1">
            <a:extLst xmlns:a="http://schemas.openxmlformats.org/drawingml/2006/main">
              <a:ext uri="{FF2B5EF4-FFF2-40B4-BE49-F238E27FC236}">
                <a16:creationId xmlns:a16="http://schemas.microsoft.com/office/drawing/2014/main" id="{09D780AB-0DFC-4061-BB02-7E8D892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3900"/>
            <a:ext cx="2085600" cy="6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Incharge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Prof. Tejas Dhule</a:t>
            </a:r>
            <a:r>
              <a:rPr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593E129E-A145-43B7-8AB6-D6B4DCF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575" y="4256050"/>
            <a:ext cx="1241400" cy="5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HoD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Dr. S. Zade 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A0A768D1-3274-4659-AB86-93B67F72F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db48a62c8048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50545" cy="2096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806657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39A66DAE-45D9-4DAD-A21E-7D1404F1B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59fe4f23724a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BF60F9A5-2EFB-45D2-9501-0857C741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1FBB9431-FD64-40F6-9E6D-73145F5C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11A39492-D9B2-4B58-88E3-A64BDE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33739EA5-B4C0-427D-9FFA-DA939A5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81"/>
            <a:ext cx="4372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Index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5" name="Google Shape;65;p2">
            <a:extLst xmlns:a="http://schemas.openxmlformats.org/drawingml/2006/main">
              <a:ext uri="{FF2B5EF4-FFF2-40B4-BE49-F238E27FC236}">
                <a16:creationId xmlns:a16="http://schemas.microsoft.com/office/drawing/2014/main" id="{740A0E9E-86DA-4F43-B866-8EA25BE39F3C}"/>
              </a:ext>
            </a:extLst>
          </p:cNvPr>
          <p:cNvGraphicFramePr/>
          <p:nvPr/>
        </p:nvGraphicFramePr>
        <p:xfrm>
          <a:off xmlns:a="http://schemas.openxmlformats.org/drawingml/2006/main" x="256525" y="82186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{20307B0E-1C24-4BA2-8191-9E27D8327ACF}</a:tableStyleId>
              </a:tblPr>
              <a:tblGrid>
                <a:gridCol w="7789000"/>
                <a:gridCol w="841950"/>
              </a:tblGrid>
              <a:tr h="3915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TITLE SLIDE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2. PROBLEM STATEMENT &amp; OBJECTIVES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LITERATURE SURVEY &amp; RESEARCH GAP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4. PROPOSED SOLUTION &amp; NOVELTY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5. SYSTEM ARCHITECTURE /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6. TECHNOLOGY STACK &amp; RESOURCES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7. IMPLEMENTATION / WORKING PROJECT DEMONSTRATION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8. TESTING &amp; VALIDATION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latin typeface="Times New Roman"/>
                          <a:ea typeface="Times New Roman"/>
                          <a:cs typeface="Times New Roman"/>
                        </a:rPr>
                        <a:t>9. RESULT &amp; CONCLUSION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 REFERENCES (UPDATED)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 RESEARCH &amp; PUBLICATION STATUS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275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 RESEARCH PUBLICATIONS, IPR &amp; SUPPORTING EVIDENCE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345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Google Shape;70;g3fb0fc850ca_0_8">
            <a:extLst xmlns:a="http://schemas.openxmlformats.org/drawingml/2006/main">
              <a:ext uri="{FF2B5EF4-FFF2-40B4-BE49-F238E27FC236}">
                <a16:creationId xmlns:a16="http://schemas.microsoft.com/office/drawing/2014/main" id="{22FA27E1-EE88-4FAA-9985-87A1A8C41C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4faa7caf9647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" name="Google Shape;71;g3fb0fc850ca_0_8">
            <a:extLst xmlns:a="http://schemas.openxmlformats.org/drawingml/2006/main">
              <a:ext uri="{FF2B5EF4-FFF2-40B4-BE49-F238E27FC236}">
                <a16:creationId xmlns:a16="http://schemas.microsoft.com/office/drawing/2014/main" id="{6E830359-2C5A-4529-94A4-BA60F49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Google Shape;72;g3fb0fc850ca_0_8">
            <a:extLst xmlns:a="http://schemas.openxmlformats.org/drawingml/2006/main">
              <a:ext uri="{FF2B5EF4-FFF2-40B4-BE49-F238E27FC236}">
                <a16:creationId xmlns:a16="http://schemas.microsoft.com/office/drawing/2014/main" id="{5C975ABD-1341-495B-A800-AF7047E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g3fb0fc850ca_0_8">
            <a:extLst xmlns:a="http://schemas.openxmlformats.org/drawingml/2006/main">
              <a:ext uri="{FF2B5EF4-FFF2-40B4-BE49-F238E27FC236}">
                <a16:creationId xmlns:a16="http://schemas.microsoft.com/office/drawing/2014/main" id="{12E38E07-D2EB-47DB-9642-A6584D39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56433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Problem Statement &amp; Objectives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Google Shape;74;g3fb0fc850ca_0_8">
            <a:extLst xmlns:a="http://schemas.openxmlformats.org/drawingml/2006/main">
              <a:ext uri="{FF2B5EF4-FFF2-40B4-BE49-F238E27FC236}">
                <a16:creationId xmlns:a16="http://schemas.microsoft.com/office/drawing/2014/main" id="{3C3FF528-A0C1-4FA3-93D5-681544D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4" y="967450"/>
            <a:ext cx="7152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g3fb0fc850ca_0_8">
            <a:extLst xmlns:a="http://schemas.openxmlformats.org/drawingml/2006/main">
              <a:ext uri="{FF2B5EF4-FFF2-40B4-BE49-F238E27FC236}">
                <a16:creationId xmlns:a16="http://schemas.microsoft.com/office/drawing/2014/main" id="{E8D66BED-7EE4-412B-8F23-1BD008B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Project problem and objectives">
            <a:extLst xmlns:a="http://schemas.openxmlformats.org/drawingml/2006/main">
              <a:ext uri="{FF2B5EF4-FFF2-40B4-BE49-F238E27FC236}">
                <a16:creationId xmlns:a16="http://schemas.microsoft.com/office/drawing/2014/main" id="{C5393F8B-A07F-498A-990E-0DCE45A0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42975"/>
            <a:ext cx="70675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PROJECT: AI-Based – Smart Adaptive Network for Community Assistance, Local Communication &amp; Public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Emergency reports can arrive with missing details or unclear locations.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Citizens, volunteers, and management need one shared response process.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Weak internet can delay reports and coordination.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OBJECTIVES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Collect SOS reports by text or voice and add a location.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Suggest a priority and explain the reason and confidence.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Let management review and override AI suggestions.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Help match volunteers and guide them to an incident.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Support offline browser storage and nearby Android BLE relay.</a:t>
            </a:r>
          </a:p>
        </p:txBody>
      </p:sp>
    </p:spTree>
    <p:extLst>
      <p:ext uri="{BB962C8B-B14F-4D97-AF65-F5344CB8AC3E}">
        <p14:creationId xmlns:p14="http://schemas.microsoft.com/office/powerpoint/2010/main" val="20431265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Google Shape;80;g40a09fbf8cc_2_8">
            <a:extLst xmlns:a="http://schemas.openxmlformats.org/drawingml/2006/main">
              <a:ext uri="{FF2B5EF4-FFF2-40B4-BE49-F238E27FC236}">
                <a16:creationId xmlns:a16="http://schemas.microsoft.com/office/drawing/2014/main" id="{CD70B21B-B886-446D-8B20-9FE1196F75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4f38dd1e4541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g40a09fbf8cc_2_8">
            <a:extLst xmlns:a="http://schemas.openxmlformats.org/drawingml/2006/main">
              <a:ext uri="{FF2B5EF4-FFF2-40B4-BE49-F238E27FC236}">
                <a16:creationId xmlns:a16="http://schemas.microsoft.com/office/drawing/2014/main" id="{3FF28AEE-102F-4E55-B8F3-35FFA5F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Google Shape;82;g40a09fbf8cc_2_8">
            <a:extLst xmlns:a="http://schemas.openxmlformats.org/drawingml/2006/main">
              <a:ext uri="{FF2B5EF4-FFF2-40B4-BE49-F238E27FC236}">
                <a16:creationId xmlns:a16="http://schemas.microsoft.com/office/drawing/2014/main" id="{438172B6-D4BF-433B-B0E0-FC1CEC9A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3" name="Google Shape;83;g40a09fbf8cc_2_8">
            <a:extLst xmlns:a="http://schemas.openxmlformats.org/drawingml/2006/main">
              <a:ext uri="{FF2B5EF4-FFF2-40B4-BE49-F238E27FC236}">
                <a16:creationId xmlns:a16="http://schemas.microsoft.com/office/drawing/2014/main" id="{7115CEDD-9BE4-4DF2-A837-FBBAB114C489}"/>
              </a:ext>
            </a:extLst>
          </p:cNvPr>
          <p:cNvGraphicFramePr/>
          <p:nvPr/>
        </p:nvGraphicFramePr>
        <p:xfrm>
          <a:off xmlns:a="http://schemas.openxmlformats.org/drawingml/2006/main" x="80201" y="1295400"/>
          <a:ext xmlns:a="http://schemas.openxmlformats.org/drawingml/2006/main" cx="8947785" cy="2781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FFD17D"/>
                    </a:gs>
                    <a:gs pos="35000">
                      <a:srgbClr val="FFDCA3"/>
                    </a:gs>
                    <a:gs pos="100000">
                      <a:srgbClr val="FFF1D8"/>
                    </a:gs>
                  </a:gsLst>
                  <a:lin ang="16200038" scaled="0"/>
                </a:gradFill>
                <a:tableStyleId>{A270B8EE-E738-40E2-BA1B-1580A0A2E2C3}</a:tableStyleId>
              </a:tblPr>
              <a:tblGrid>
                <a:gridCol w="459175"/>
                <a:gridCol w="2767075"/>
                <a:gridCol w="1463725"/>
                <a:gridCol w="1275175"/>
                <a:gridCol w="1120800"/>
                <a:gridCol w="1861800"/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No.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Study / year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Key finding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AIDR: AI for Disaster Response (2014)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 social media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Human + AI classification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 can help sort large message streams.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Posts may be noisy or unverified.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CrisisMMD (2018)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Tweets and images from disasters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Labeled multimodal data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Provides crisis content for research.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Social posts are not verified SOS reports.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CrisisTransformers (2023)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Crisis-related social text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Pre-trained language models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Studies text classification for crises.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Needs models, data, and computing resources.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g40a09fbf8cc_2_8">
            <a:extLst xmlns:a="http://schemas.openxmlformats.org/drawingml/2006/main">
              <a:ext uri="{FF2B5EF4-FFF2-40B4-BE49-F238E27FC236}">
                <a16:creationId xmlns:a16="http://schemas.microsoft.com/office/drawing/2014/main" id="{01E021D8-AE5F-4AB4-A1D4-78DA9689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Literature Survey &amp; Research Gap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" name="Google Shape;85;g40a09fbf8cc_2_8">
            <a:extLst xmlns:a="http://schemas.openxmlformats.org/drawingml/2006/main">
              <a:ext uri="{FF2B5EF4-FFF2-40B4-BE49-F238E27FC236}">
                <a16:creationId xmlns:a16="http://schemas.microsoft.com/office/drawing/2014/main" id="{7034308A-C825-4E3B-AB39-D88ECF32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679050"/>
            <a:ext cx="7120800" cy="37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298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sz="1100"/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Google Shape;86;g40a09fbf8cc_2_8">
            <a:extLst xmlns:a="http://schemas.openxmlformats.org/drawingml/2006/main">
              <a:ext uri="{FF2B5EF4-FFF2-40B4-BE49-F238E27FC236}">
                <a16:creationId xmlns:a16="http://schemas.microsoft.com/office/drawing/2014/main" id="{2B777346-2FAD-4090-ABAE-C447020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Literature research gap">
            <a:extLst xmlns:a="http://schemas.openxmlformats.org/drawingml/2006/main">
              <a:ext uri="{FF2B5EF4-FFF2-40B4-BE49-F238E27FC236}">
                <a16:creationId xmlns:a16="http://schemas.microsoft.com/office/drawing/2014/main" id="{4EEC13CD-E898-4B67-AA55-2663DC0B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8763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gap: connect a structured SOS, explainable triage, human review, responder matching, maps, and offline support in one prototype, then evaluate it with users and phones.</a:t>
            </a:r>
          </a:p>
        </p:txBody>
      </p:sp>
    </p:spTree>
    <p:extLst>
      <p:ext uri="{BB962C8B-B14F-4D97-AF65-F5344CB8AC3E}">
        <p14:creationId xmlns:p14="http://schemas.microsoft.com/office/powerpoint/2010/main" val="20442666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Google Shape;91;g3fb0fc850ca_0_22">
            <a:extLst xmlns:a="http://schemas.openxmlformats.org/drawingml/2006/main">
              <a:ext uri="{FF2B5EF4-FFF2-40B4-BE49-F238E27FC236}">
                <a16:creationId xmlns:a16="http://schemas.microsoft.com/office/drawing/2014/main" id="{7DACF832-6718-4F34-A4D1-AC4F0255B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b898e8530d44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g3fb0fc850ca_0_22">
            <a:extLst xmlns:a="http://schemas.openxmlformats.org/drawingml/2006/main">
              <a:ext uri="{FF2B5EF4-FFF2-40B4-BE49-F238E27FC236}">
                <a16:creationId xmlns:a16="http://schemas.microsoft.com/office/drawing/2014/main" id="{273765EA-FB0B-4225-99AC-F9D60867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g3fb0fc850ca_0_22">
            <a:extLst xmlns:a="http://schemas.openxmlformats.org/drawingml/2006/main">
              <a:ext uri="{FF2B5EF4-FFF2-40B4-BE49-F238E27FC236}">
                <a16:creationId xmlns:a16="http://schemas.microsoft.com/office/drawing/2014/main" id="{93D898B2-904A-4787-907B-ED5C879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g3fb0fc850ca_0_22">
            <a:extLst xmlns:a="http://schemas.openxmlformats.org/drawingml/2006/main">
              <a:ext uri="{FF2B5EF4-FFF2-40B4-BE49-F238E27FC236}">
                <a16:creationId xmlns:a16="http://schemas.microsoft.com/office/drawing/2014/main" id="{0466F21A-9190-4794-A9C0-28E4A88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60861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Proposed Solution &amp; Novelty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Google Shape;95;g3fb0fc850ca_0_22">
            <a:extLst xmlns:a="http://schemas.openxmlformats.org/drawingml/2006/main">
              <a:ext uri="{FF2B5EF4-FFF2-40B4-BE49-F238E27FC236}">
                <a16:creationId xmlns:a16="http://schemas.microsoft.com/office/drawing/2014/main" id="{DE136CC8-82B6-4D57-845C-47C9B9BB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4" y="967450"/>
            <a:ext cx="7152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g3fb0fc850ca_0_22">
            <a:extLst xmlns:a="http://schemas.openxmlformats.org/drawingml/2006/main">
              <a:ext uri="{FF2B5EF4-FFF2-40B4-BE49-F238E27FC236}">
                <a16:creationId xmlns:a16="http://schemas.microsoft.com/office/drawing/2014/main" id="{50CB8DB5-DCCB-40BF-9014-A8481801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Proposed solution">
            <a:extLst xmlns:a="http://schemas.openxmlformats.org/drawingml/2006/main">
              <a:ext uri="{FF2B5EF4-FFF2-40B4-BE49-F238E27FC236}">
                <a16:creationId xmlns:a16="http://schemas.microsoft.com/office/drawing/2014/main" id="{23E7AF8D-9885-4AEA-A248-5D9F9A9B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990600"/>
            <a:ext cx="7048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citizen sends an emergency report with type, description, and location.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Rule-based NLP suggests a category and P0–P3 priority.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shows confidence, reasons, missing details, and duplicate hints.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Management checks the suggestion and can change it before dispatch.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Volunteer matching considers skills, availability, and distance.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Map routing, a browser retry queue, and Android BLE relay support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contribution: bring these response steps together with human approval and clear delivery states.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prototype supports the official 112 service; it does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16855287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Google Shape;101;g3fb0fc850ca_0_44">
            <a:extLst xmlns:a="http://schemas.openxmlformats.org/drawingml/2006/main">
              <a:ext uri="{FF2B5EF4-FFF2-40B4-BE49-F238E27FC236}">
                <a16:creationId xmlns:a16="http://schemas.microsoft.com/office/drawing/2014/main" id="{FF5AA5BF-47EC-487F-BBDB-F551E3F33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57368bb65d46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g3fb0fc850ca_0_44">
            <a:extLst xmlns:a="http://schemas.openxmlformats.org/drawingml/2006/main">
              <a:ext uri="{FF2B5EF4-FFF2-40B4-BE49-F238E27FC236}">
                <a16:creationId xmlns:a16="http://schemas.microsoft.com/office/drawing/2014/main" id="{3D822FB4-E3AC-4505-AFE9-FDFBFA5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g3fb0fc850ca_0_44">
            <a:extLst xmlns:a="http://schemas.openxmlformats.org/drawingml/2006/main">
              <a:ext uri="{FF2B5EF4-FFF2-40B4-BE49-F238E27FC236}">
                <a16:creationId xmlns:a16="http://schemas.microsoft.com/office/drawing/2014/main" id="{F2D056E0-24D4-4A8C-AEB5-29BDB7AD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g3fb0fc850ca_0_44">
            <a:extLst xmlns:a="http://schemas.openxmlformats.org/drawingml/2006/main">
              <a:ext uri="{FF2B5EF4-FFF2-40B4-BE49-F238E27FC236}">
                <a16:creationId xmlns:a16="http://schemas.microsoft.com/office/drawing/2014/main" id="{D6133539-1C2D-4C01-9DC8-CC701F82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System Architecture / Design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5" name="Google Shape;105;g3fb0fc850ca_0_44">
            <a:extLst xmlns:a="http://schemas.openxmlformats.org/drawingml/2006/main">
              <a:ext uri="{FF2B5EF4-FFF2-40B4-BE49-F238E27FC236}">
                <a16:creationId xmlns:a16="http://schemas.microsoft.com/office/drawing/2014/main" id="{93C8737D-16E7-43A5-8490-A3415CAC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106" name="Google Shape;106;g3fb0fc850ca_0_44">
            <a:extLst xmlns:a="http://schemas.openxmlformats.org/drawingml/2006/main">
              <a:ext uri="{FF2B5EF4-FFF2-40B4-BE49-F238E27FC236}">
                <a16:creationId xmlns:a16="http://schemas.microsoft.com/office/drawing/2014/main" id="{0EC7417C-1DDA-4D18-AA39-D486F185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Citizen / Volunteer">
            <a:extLst xmlns:a="http://schemas.openxmlformats.org/drawingml/2006/main">
              <a:ext uri="{FF2B5EF4-FFF2-40B4-BE49-F238E27FC236}">
                <a16:creationId xmlns:a16="http://schemas.microsoft.com/office/drawing/2014/main" id="{D157BA60-715A-4749-A5C8-38B962F4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81125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Citizen / Volunteer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Submit or view a report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BEE7C3-D3F7-4E19-95B4-BA1869B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685925"/>
            <a:ext cx="228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8A11"/>
          </a:solidFill>
          <a:ln xmlns:a="http://schemas.openxmlformats.org/drawingml/2006/main" w="9525">
            <a:solidFill>
              <a:srgbClr val="C88A11"/>
            </a:solidFill>
            <a:prstDash val="solid"/>
          </a:ln>
        </p:spPr>
      </p:sp>
      <p:sp>
        <p:nvSpPr>
          <p:cNvPr id="109" name="React App + AI">
            <a:extLst xmlns:a="http://schemas.openxmlformats.org/drawingml/2006/main">
              <a:ext uri="{FF2B5EF4-FFF2-40B4-BE49-F238E27FC236}">
                <a16:creationId xmlns:a16="http://schemas.microsoft.com/office/drawing/2014/main" id="{28019BE5-0E76-4ADF-A7CB-02507B43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381125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React App + AI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Rule-based triage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P0–P3 suggestion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AEAA290-21F4-4172-835D-C3DA75C9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85925"/>
            <a:ext cx="228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8A11"/>
          </a:solidFill>
          <a:ln xmlns:a="http://schemas.openxmlformats.org/drawingml/2006/main" w="9525">
            <a:solidFill>
              <a:srgbClr val="C88A11"/>
            </a:solidFill>
            <a:prstDash val="solid"/>
          </a:ln>
        </p:spPr>
      </p:sp>
      <p:sp>
        <p:nvSpPr>
          <p:cNvPr id="111" name="Local Node API">
            <a:extLst xmlns:a="http://schemas.openxmlformats.org/drawingml/2006/main">
              <a:ext uri="{FF2B5EF4-FFF2-40B4-BE49-F238E27FC236}">
                <a16:creationId xmlns:a16="http://schemas.microsoft.com/office/drawing/2014/main" id="{17B44FB1-BAB8-44A4-92B4-F1FADE1B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81125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Local Node API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REST service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JSON data store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A13C944-86F1-4541-8C7D-635F62CA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85925"/>
            <a:ext cx="228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8A11"/>
          </a:solidFill>
          <a:ln xmlns:a="http://schemas.openxmlformats.org/drawingml/2006/main" w="9525">
            <a:solidFill>
              <a:srgbClr val="C88A11"/>
            </a:solidFill>
            <a:prstDash val="solid"/>
          </a:ln>
        </p:spPr>
      </p:sp>
      <p:sp>
        <p:nvSpPr>
          <p:cNvPr id="113" name="Management Room">
            <a:extLst xmlns:a="http://schemas.openxmlformats.org/drawingml/2006/main">
              <a:ext uri="{FF2B5EF4-FFF2-40B4-BE49-F238E27FC236}">
                <a16:creationId xmlns:a16="http://schemas.microsoft.com/office/drawing/2014/main" id="{EB961879-F2A5-4F99-B417-DD78A7A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381125"/>
            <a:ext cx="2143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Management Room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Review, override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and dispatch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058D3B1-B714-427E-A87B-7585E80F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4125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SUPPORT COMPONENTS</a:t>
            </a:r>
          </a:p>
        </p:txBody>
      </p:sp>
      <p:sp>
        <p:nvSpPr>
          <p:cNvPr id="115" name="Browser Offline Queue">
            <a:extLst xmlns:a="http://schemas.openxmlformats.org/drawingml/2006/main">
              <a:ext uri="{FF2B5EF4-FFF2-40B4-BE49-F238E27FC236}">
                <a16:creationId xmlns:a16="http://schemas.microsoft.com/office/drawing/2014/main" id="{3A1B5811-CEC0-4234-BD9A-C659C62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76550"/>
            <a:ext cx="26193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Browser Offline Queue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IndexedDB stores reports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until sync is available</a:t>
            </a:r>
          </a:p>
        </p:txBody>
      </p:sp>
      <p:sp>
        <p:nvSpPr>
          <p:cNvPr id="116" name="Android BLE Relay">
            <a:extLst xmlns:a="http://schemas.openxmlformats.org/drawingml/2006/main">
              <a:ext uri="{FF2B5EF4-FFF2-40B4-BE49-F238E27FC236}">
                <a16:creationId xmlns:a16="http://schemas.microsoft.com/office/drawing/2014/main" id="{7624090A-1797-4FD9-BF5C-6246693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26193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Android BLE Relay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Unique ID • expiry • hop limit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retry • acknowledgement</a:t>
            </a:r>
          </a:p>
        </p:txBody>
      </p:sp>
      <p:sp>
        <p:nvSpPr>
          <p:cNvPr id="117" name="GIS + Route Guide">
            <a:extLst xmlns:a="http://schemas.openxmlformats.org/drawingml/2006/main">
              <a:ext uri="{FF2B5EF4-FFF2-40B4-BE49-F238E27FC236}">
                <a16:creationId xmlns:a16="http://schemas.microsoft.com/office/drawing/2014/main" id="{14F4E512-5586-49CD-83C1-9BB4B74D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6193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>
            <a:def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GIS + Route Guide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Leaflet map • OSRM route</a:t>
            </a:r>
          </a:p>
          <a:p xmlns:a="http://schemas.openxmlformats.org/drawingml/2006/main">
            <a:pPr algn="ctr">
              <a:defRPr sz="1088">
                <a:solidFill>
                  <a:srgbClr val="20233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33B"/>
                </a:solidFill>
                <a:latin typeface="Arial"/>
                <a:ea typeface="Arial"/>
                <a:cs typeface="Arial"/>
              </a:rPr>
              <a:t>turn-by-turn directions</a:t>
            </a:r>
          </a:p>
        </p:txBody>
      </p:sp>
      <p:sp>
        <p:nvSpPr>
          <p:cNvPr id="118" name="Delivery state note">
            <a:extLst xmlns:a="http://schemas.openxmlformats.org/drawingml/2006/main">
              <a:ext uri="{FF2B5EF4-FFF2-40B4-BE49-F238E27FC236}">
                <a16:creationId xmlns:a16="http://schemas.microsoft.com/office/drawing/2014/main" id="{0200088B-27A7-42DA-863C-13E15D7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76675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A nearby BLE acknowledgement does not mean the central server received the SOS.</a:t>
            </a:r>
          </a:p>
        </p:txBody>
      </p:sp>
    </p:spTree>
    <p:extLst>
      <p:ext uri="{BB962C8B-B14F-4D97-AF65-F5344CB8AC3E}">
        <p14:creationId xmlns:p14="http://schemas.microsoft.com/office/powerpoint/2010/main" val="7915682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1" name="Google Shape;111;g3fb0fc850ca_0_70">
            <a:extLst xmlns:a="http://schemas.openxmlformats.org/drawingml/2006/main">
              <a:ext uri="{FF2B5EF4-FFF2-40B4-BE49-F238E27FC236}">
                <a16:creationId xmlns:a16="http://schemas.microsoft.com/office/drawing/2014/main" id="{F7DCBF79-747E-453D-9D52-B58C1DC09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e841cacbcf4d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g3fb0fc850ca_0_70">
            <a:extLst xmlns:a="http://schemas.openxmlformats.org/drawingml/2006/main">
              <a:ext uri="{FF2B5EF4-FFF2-40B4-BE49-F238E27FC236}">
                <a16:creationId xmlns:a16="http://schemas.microsoft.com/office/drawing/2014/main" id="{6FE4D276-1A26-4D72-B22A-CF0190C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g3fb0fc850ca_0_70">
            <a:extLst xmlns:a="http://schemas.openxmlformats.org/drawingml/2006/main">
              <a:ext uri="{FF2B5EF4-FFF2-40B4-BE49-F238E27FC236}">
                <a16:creationId xmlns:a16="http://schemas.microsoft.com/office/drawing/2014/main" id="{A6360C15-6944-4CA4-B4A1-A3BA139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Google Shape;114;g3fb0fc850ca_0_70">
            <a:extLst xmlns:a="http://schemas.openxmlformats.org/drawingml/2006/main">
              <a:ext uri="{FF2B5EF4-FFF2-40B4-BE49-F238E27FC236}">
                <a16:creationId xmlns:a16="http://schemas.microsoft.com/office/drawing/2014/main" id="{2E4A303B-DDDB-4CF0-ACCA-875AF86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Technology Stack &amp; Resources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5" name="Google Shape;115;g3fb0fc850ca_0_70">
            <a:extLst xmlns:a="http://schemas.openxmlformats.org/drawingml/2006/main">
              <a:ext uri="{FF2B5EF4-FFF2-40B4-BE49-F238E27FC236}">
                <a16:creationId xmlns:a16="http://schemas.microsoft.com/office/drawing/2014/main" id="{63CE9E79-3CB7-4E95-9C8B-6BE98A2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g3fb0fc850ca_0_70">
            <a:extLst xmlns:a="http://schemas.openxmlformats.org/drawingml/2006/main">
              <a:ext uri="{FF2B5EF4-FFF2-40B4-BE49-F238E27FC236}">
                <a16:creationId xmlns:a16="http://schemas.microsoft.com/office/drawing/2014/main" id="{2A27F169-E821-4189-8EAF-6021B90E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D5881B6-8E0A-4A49-97BC-C318856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00150"/>
            <a:ext cx="42672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5F1F8"/>
          </a:solidFill>
          <a:ln xmlns:a="http://schemas.openxmlformats.org/drawingml/2006/main" w="11906">
            <a:solidFill>
              <a:srgbClr val="C9B8D8"/>
            </a:solidFill>
            <a:prstDash val="solid"/>
          </a:ln>
        </p:spPr>
        <p:txBody>
          <a:bodyPr xmlns:a="http://schemas.openxmlformats.org/drawingml/2006/main" lIns="152400" tIns="133350" rIns="133350" bIns="95250" anchor="t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TECH STACK &amp;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Frontend: React, Vite, Tailwind CSS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API and storage: Node.js local REST API, JSON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Maps: Leaflet, OpenStreetMap, OSRM routing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Browser offline queue: Dexie and IndexedDB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Android relay: Java and Bluetooth Low 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Voice: Vosk English/Hindi; Marathi depends on device or browser speech support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83EDE-C1C5-4BC0-B037-CF38B2BE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00150"/>
            <a:ext cx="42672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1906">
            <a:solidFill>
              <a:srgbClr val="C9B8D8"/>
            </a:solidFill>
            <a:prstDash val="solid"/>
          </a:ln>
        </p:spPr>
        <p:txBody>
          <a:bodyPr xmlns:a="http://schemas.openxmlformats.org/drawingml/2006/main" lIns="152400" tIns="133350" rIns="133350" bIns="95250" anchor="t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SIMPLE SUGGESTED TEAM 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AYUSH KATHOTE — Team lead and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Sarthak Mahore — Frontend and citizen 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Pruthviraj Gawande — Backend and data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Taha Saifee — AI triage and volunteer matching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2233A"/>
                </a:solidFill>
                <a:latin typeface="Arial"/>
                <a:ea typeface="Arial"/>
                <a:cs typeface="Arial"/>
              </a:rPr>
              <a:t>Vedant Malode — Maps, Android relay, and testing</a:t>
            </a:r>
          </a:p>
        </p:txBody>
      </p:sp>
    </p:spTree>
    <p:extLst>
      <p:ext uri="{BB962C8B-B14F-4D97-AF65-F5344CB8AC3E}">
        <p14:creationId xmlns:p14="http://schemas.microsoft.com/office/powerpoint/2010/main" val="11534008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21;g3fb0fc850ca_0_80">
            <a:extLst xmlns:a="http://schemas.openxmlformats.org/drawingml/2006/main">
              <a:ext uri="{FF2B5EF4-FFF2-40B4-BE49-F238E27FC236}">
                <a16:creationId xmlns:a16="http://schemas.microsoft.com/office/drawing/2014/main" id="{9118D8FE-69A4-44E5-94EB-955B76810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56c25b7a3444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g3fb0fc850ca_0_80">
            <a:extLst xmlns:a="http://schemas.openxmlformats.org/drawingml/2006/main">
              <a:ext uri="{FF2B5EF4-FFF2-40B4-BE49-F238E27FC236}">
                <a16:creationId xmlns:a16="http://schemas.microsoft.com/office/drawing/2014/main" id="{D8B3A3B2-0397-4FD6-A986-2625BB3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g3fb0fc850ca_0_80">
            <a:extLst xmlns:a="http://schemas.openxmlformats.org/drawingml/2006/main">
              <a:ext uri="{FF2B5EF4-FFF2-40B4-BE49-F238E27FC236}">
                <a16:creationId xmlns:a16="http://schemas.microsoft.com/office/drawing/2014/main" id="{96D18E17-65A8-4411-8CD7-B848E1BE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g3fb0fc850ca_0_80">
            <a:extLst xmlns:a="http://schemas.openxmlformats.org/drawingml/2006/main">
              <a:ext uri="{FF2B5EF4-FFF2-40B4-BE49-F238E27FC236}">
                <a16:creationId xmlns:a16="http://schemas.microsoft.com/office/drawing/2014/main" id="{E1DF6D8A-4CDE-465E-B98F-3851FDC1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Implementation / Working Project Demonstration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5" name="Google Shape;125;g3fb0fc850ca_0_80">
            <a:extLst xmlns:a="http://schemas.openxmlformats.org/drawingml/2006/main">
              <a:ext uri="{FF2B5EF4-FFF2-40B4-BE49-F238E27FC236}">
                <a16:creationId xmlns:a16="http://schemas.microsoft.com/office/drawing/2014/main" id="{D32796BB-B6DE-44FB-B9CB-4DA51A30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g3fb0fc850ca_0_80">
            <a:extLst xmlns:a="http://schemas.openxmlformats.org/drawingml/2006/main">
              <a:ext uri="{FF2B5EF4-FFF2-40B4-BE49-F238E27FC236}">
                <a16:creationId xmlns:a16="http://schemas.microsoft.com/office/drawing/2014/main" id="{4BDDF8D7-0084-4172-A2BC-77CD8B4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Demonstration sequence">
            <a:extLst xmlns:a="http://schemas.openxmlformats.org/drawingml/2006/main">
              <a:ext uri="{FF2B5EF4-FFF2-40B4-BE49-F238E27FC236}">
                <a16:creationId xmlns:a16="http://schemas.microsoft.com/office/drawing/2014/main" id="{5AA014C7-E379-43BB-B416-169CFC92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81100"/>
            <a:ext cx="6858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Citizen chooses a hazard and enters a text or voice description.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The app adds a current location or lets the user correct it.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AI rules show a category, priority, confidence, and reason.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Management reviews the report and records any override.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The system ranks approved volunteers by distance, skill, and availability.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The volunteer views the incident and the shortest available route.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First-aid assistant gives basic guidance; 112 stays visible.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8. Offline browser reports queue for sync. Android BLE relays are a separate path.</a:t>
            </a:r>
          </a:p>
        </p:txBody>
      </p:sp>
    </p:spTree>
    <p:extLst>
      <p:ext uri="{BB962C8B-B14F-4D97-AF65-F5344CB8AC3E}">
        <p14:creationId xmlns:p14="http://schemas.microsoft.com/office/powerpoint/2010/main" val="7146172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1" name="Google Shape;131;g3fb0fc850ca_0_89">
            <a:extLst xmlns:a="http://schemas.openxmlformats.org/drawingml/2006/main">
              <a:ext uri="{FF2B5EF4-FFF2-40B4-BE49-F238E27FC236}">
                <a16:creationId xmlns:a16="http://schemas.microsoft.com/office/drawing/2014/main" id="{7FB0EDBB-ACC3-41D9-BD9E-B08D84641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ad71f5f4dc49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2" name="Google Shape;132;g3fb0fc850ca_0_89">
            <a:extLst xmlns:a="http://schemas.openxmlformats.org/drawingml/2006/main">
              <a:ext uri="{FF2B5EF4-FFF2-40B4-BE49-F238E27FC236}">
                <a16:creationId xmlns:a16="http://schemas.microsoft.com/office/drawing/2014/main" id="{DB2B04D5-D81C-43F1-97EF-65339095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Google Shape;133;g3fb0fc850ca_0_89">
            <a:extLst xmlns:a="http://schemas.openxmlformats.org/drawingml/2006/main">
              <a:ext uri="{FF2B5EF4-FFF2-40B4-BE49-F238E27FC236}">
                <a16:creationId xmlns:a16="http://schemas.microsoft.com/office/drawing/2014/main" id="{F0B90D64-EE6E-4807-8E5A-E1BA7C7B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Google Shape;134;g3fb0fc850ca_0_89">
            <a:extLst xmlns:a="http://schemas.openxmlformats.org/drawingml/2006/main">
              <a:ext uri="{FF2B5EF4-FFF2-40B4-BE49-F238E27FC236}">
                <a16:creationId xmlns:a16="http://schemas.microsoft.com/office/drawing/2014/main" id="{4FDD1AF5-A6D5-4CB3-96C0-A7562CF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Testing &amp; Validation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5" name="Google Shape;135;g3fb0fc850ca_0_89">
            <a:extLst xmlns:a="http://schemas.openxmlformats.org/drawingml/2006/main">
              <a:ext uri="{FF2B5EF4-FFF2-40B4-BE49-F238E27FC236}">
                <a16:creationId xmlns:a16="http://schemas.microsoft.com/office/drawing/2014/main" id="{1FB4D8F2-A618-414E-A34A-50683479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Google Shape;136;g3fb0fc850ca_0_89">
            <a:extLst xmlns:a="http://schemas.openxmlformats.org/drawingml/2006/main">
              <a:ext uri="{FF2B5EF4-FFF2-40B4-BE49-F238E27FC236}">
                <a16:creationId xmlns:a16="http://schemas.microsoft.com/office/drawing/2014/main" id="{166FBA1E-EF08-4A10-9764-9374B3B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sting and validation status">
            <a:extLst xmlns:a="http://schemas.openxmlformats.org/drawingml/2006/main">
              <a:ext uri="{FF2B5EF4-FFF2-40B4-BE49-F238E27FC236}">
                <a16:creationId xmlns:a16="http://schemas.microsoft.com/office/drawing/2014/main" id="{45107849-B908-4B72-A946-3FB9F14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33475"/>
            <a:ext cx="7810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Reporting: check hazard type, description, voice entry, and location correction.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AI triage: inspect category, P0–P3 priority, confidence, reasons, and human override.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Offline: verify IndexedDB queue and sync after the API becomes available.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Routing: check the OSRM route and directions when its service is reachable.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BLE: test duplicate handling, expiry, hop limit, retry, and receipt states.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Accuracy, user study, BLE range, battery, and Android background tests are not reported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use the prototype as a replacement for official emergency services.</a:t>
            </a:r>
          </a:p>
        </p:txBody>
      </p:sp>
    </p:spTree>
    <p:extLst>
      <p:ext uri="{BB962C8B-B14F-4D97-AF65-F5344CB8AC3E}">
        <p14:creationId xmlns:p14="http://schemas.microsoft.com/office/powerpoint/2010/main" val="9571370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1" name="Google Shape;141;g3fb0fc850ca_0_117">
            <a:extLst xmlns:a="http://schemas.openxmlformats.org/drawingml/2006/main">
              <a:ext uri="{FF2B5EF4-FFF2-40B4-BE49-F238E27FC236}">
                <a16:creationId xmlns:a16="http://schemas.microsoft.com/office/drawing/2014/main" id="{29C5F8D6-85A3-4078-809C-9AE305B5A6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5540867b9f4f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g3fb0fc850ca_0_117">
            <a:extLst xmlns:a="http://schemas.openxmlformats.org/drawingml/2006/main">
              <a:ext uri="{FF2B5EF4-FFF2-40B4-BE49-F238E27FC236}">
                <a16:creationId xmlns:a16="http://schemas.microsoft.com/office/drawing/2014/main" id="{EFD3757E-146E-4F58-A577-F87695FC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Google Shape;143;g3fb0fc850ca_0_117">
            <a:extLst xmlns:a="http://schemas.openxmlformats.org/drawingml/2006/main">
              <a:ext uri="{FF2B5EF4-FFF2-40B4-BE49-F238E27FC236}">
                <a16:creationId xmlns:a16="http://schemas.microsoft.com/office/drawing/2014/main" id="{2B2C9C83-60F9-4AB8-B9DD-09AFCB01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g3fb0fc850ca_0_117">
            <a:extLst xmlns:a="http://schemas.openxmlformats.org/drawingml/2006/main">
              <a:ext uri="{FF2B5EF4-FFF2-40B4-BE49-F238E27FC236}">
                <a16:creationId xmlns:a16="http://schemas.microsoft.com/office/drawing/2014/main" id="{7921C002-FB9E-40CE-AC8F-D58C20C3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Result &amp; Conclusion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5" name="Google Shape;145;g3fb0fc850ca_0_117">
            <a:extLst xmlns:a="http://schemas.openxmlformats.org/drawingml/2006/main">
              <a:ext uri="{FF2B5EF4-FFF2-40B4-BE49-F238E27FC236}">
                <a16:creationId xmlns:a16="http://schemas.microsoft.com/office/drawing/2014/main" id="{6DA0A6B0-1F6F-44C5-AFAA-9E1E45D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Results and conclusion">
            <a:extLst xmlns:a="http://schemas.openxmlformats.org/drawingml/2006/main">
              <a:ext uri="{FF2B5EF4-FFF2-40B4-BE49-F238E27FC236}">
                <a16:creationId xmlns:a16="http://schemas.microsoft.com/office/drawing/2014/main" id="{50EEFB1B-576D-44EA-8971-CF23393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257300"/>
            <a:ext cx="857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prototype connects citizen reports, triage, management review, maps, and volunteer tools.</a:t>
            </a:r>
          </a:p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Triage is rule-based decision support, not a trained emergency decision model.</a:t>
            </a:r>
          </a:p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Management has the final say on category, priority, and dispatch.</a:t>
            </a:r>
          </a:p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Matching considers responder skill and availability along with distance.</a:t>
            </a:r>
          </a:p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Browser queue and Android BLE can support limited connectivity in different ways.</a:t>
            </a:r>
          </a:p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Real-phone testing and user evaluation are still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project supports community response and complements India’s 112 service.</a:t>
            </a:r>
          </a:p>
        </p:txBody>
      </p:sp>
    </p:spTree>
    <p:extLst>
      <p:ext uri="{BB962C8B-B14F-4D97-AF65-F5344CB8AC3E}">
        <p14:creationId xmlns:p14="http://schemas.microsoft.com/office/powerpoint/2010/main" val="17442836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0" name="Google Shape;150;g3fb0fc850ca_0_102">
            <a:extLst xmlns:a="http://schemas.openxmlformats.org/drawingml/2006/main">
              <a:ext uri="{FF2B5EF4-FFF2-40B4-BE49-F238E27FC236}">
                <a16:creationId xmlns:a16="http://schemas.microsoft.com/office/drawing/2014/main" id="{EDE50CB0-579A-4A35-8EAE-3D0C91BFE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271c9b07df45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Google Shape;151;g3fb0fc850ca_0_102">
            <a:extLst xmlns:a="http://schemas.openxmlformats.org/drawingml/2006/main">
              <a:ext uri="{FF2B5EF4-FFF2-40B4-BE49-F238E27FC236}">
                <a16:creationId xmlns:a16="http://schemas.microsoft.com/office/drawing/2014/main" id="{2038BF7D-333F-47F6-B15C-01BA339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g3fb0fc850ca_0_102">
            <a:extLst xmlns:a="http://schemas.openxmlformats.org/drawingml/2006/main">
              <a:ext uri="{FF2B5EF4-FFF2-40B4-BE49-F238E27FC236}">
                <a16:creationId xmlns:a16="http://schemas.microsoft.com/office/drawing/2014/main" id="{2C3617EE-A0FA-497C-90D0-5202870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g3fb0fc850ca_0_102">
            <a:extLst xmlns:a="http://schemas.openxmlformats.org/drawingml/2006/main">
              <a:ext uri="{FF2B5EF4-FFF2-40B4-BE49-F238E27FC236}">
                <a16:creationId xmlns:a16="http://schemas.microsoft.com/office/drawing/2014/main" id="{C12C648F-8B83-45C6-9EB0-BBAC8EA6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 (Updated)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4" name="Google Shape;154;g3fb0fc850ca_0_102">
            <a:extLst xmlns:a="http://schemas.openxmlformats.org/drawingml/2006/main">
              <a:ext uri="{FF2B5EF4-FFF2-40B4-BE49-F238E27FC236}">
                <a16:creationId xmlns:a16="http://schemas.microsoft.com/office/drawing/2014/main" id="{5F81136C-A462-4010-9B15-AC9AE68D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1270000"/>
            <a:ext cx="8687700" cy="32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/>
            </a:r>
            <a:endParaRPr sz="12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55" name="Google Shape;155;g3fb0fc850ca_0_102">
            <a:extLst xmlns:a="http://schemas.openxmlformats.org/drawingml/2006/main">
              <a:ext uri="{FF2B5EF4-FFF2-40B4-BE49-F238E27FC236}">
                <a16:creationId xmlns:a16="http://schemas.microsoft.com/office/drawing/2014/main" id="{8558883C-C735-4F3C-BF88-EFDD4DB9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Reference list">
            <a:extLst xmlns:a="http://schemas.openxmlformats.org/drawingml/2006/main">
              <a:ext uri="{FF2B5EF4-FFF2-40B4-BE49-F238E27FC236}">
                <a16:creationId xmlns:a16="http://schemas.microsoft.com/office/drawing/2014/main" id="{5550921D-0491-4FC2-A099-6B099A41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66825"/>
            <a:ext cx="871537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[1] M. Imran et al., “AIDR: Artificial Intelligence for Disaster Response,” WWW, 2014.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[2] F. Alam, F. Ofli, and M. Imran, “CrisisMMD,” ICWSM, 2018.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[3] S. Lamsal et al., “CrisisTransformers,” 2023.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[4] React Team, React Documentation.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[5] Leaflet Team, Leaflet Reference.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[6] Project OSRM, OSRM API Documentation.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[7] Mozilla, IndexedDB API Documentation.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[8] Android Developers, Bluetooth Low Energy Overview.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[9] Government of India, Emergency Response Support System (112).</a:t>
            </a:r>
          </a:p>
        </p:txBody>
      </p:sp>
    </p:spTree>
    <p:extLst>
      <p:ext uri="{BB962C8B-B14F-4D97-AF65-F5344CB8AC3E}">
        <p14:creationId xmlns:p14="http://schemas.microsoft.com/office/powerpoint/2010/main" val="20972864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0" name="Google Shape;160;g40a09fbf8cc_1_15">
            <a:extLst xmlns:a="http://schemas.openxmlformats.org/drawingml/2006/main">
              <a:ext uri="{FF2B5EF4-FFF2-40B4-BE49-F238E27FC236}">
                <a16:creationId xmlns:a16="http://schemas.microsoft.com/office/drawing/2014/main" id="{9A1D1B14-03F8-49FB-B4E3-683F966A16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c26aad58fe4c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g40a09fbf8cc_1_15">
            <a:extLst xmlns:a="http://schemas.openxmlformats.org/drawingml/2006/main">
              <a:ext uri="{FF2B5EF4-FFF2-40B4-BE49-F238E27FC236}">
                <a16:creationId xmlns:a16="http://schemas.microsoft.com/office/drawing/2014/main" id="{00318A5F-2C96-4AE7-BA0D-0685C0FA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g40a09fbf8cc_1_15">
            <a:extLst xmlns:a="http://schemas.openxmlformats.org/drawingml/2006/main">
              <a:ext uri="{FF2B5EF4-FFF2-40B4-BE49-F238E27FC236}">
                <a16:creationId xmlns:a16="http://schemas.microsoft.com/office/drawing/2014/main" id="{B9F4AEA1-F36B-4223-839D-4452A170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g40a09fbf8cc_1_15">
            <a:extLst xmlns:a="http://schemas.openxmlformats.org/drawingml/2006/main">
              <a:ext uri="{FF2B5EF4-FFF2-40B4-BE49-F238E27FC236}">
                <a16:creationId xmlns:a16="http://schemas.microsoft.com/office/drawing/2014/main" id="{73CBC5F2-4B96-47EC-A8FF-7EFF849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Research &amp; Publication Status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4" name="Google Shape;164;g40a09fbf8cc_1_15">
            <a:extLst xmlns:a="http://schemas.openxmlformats.org/drawingml/2006/main">
              <a:ext uri="{FF2B5EF4-FFF2-40B4-BE49-F238E27FC236}">
                <a16:creationId xmlns:a16="http://schemas.microsoft.com/office/drawing/2014/main" id="{93557C7F-0AF4-454D-B702-5AC4E543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5" name="Google Shape;165;g40a09fbf8cc_1_15">
            <a:extLst xmlns:a="http://schemas.openxmlformats.org/drawingml/2006/main">
              <a:ext uri="{FF2B5EF4-FFF2-40B4-BE49-F238E27FC236}">
                <a16:creationId xmlns:a16="http://schemas.microsoft.com/office/drawing/2014/main" id="{34C131D8-E4C9-45F9-9809-4EEEEB2005F3}"/>
              </a:ext>
            </a:extLst>
          </p:cNvPr>
          <p:cNvGraphicFramePr/>
          <p:nvPr/>
        </p:nvGraphicFramePr>
        <p:xfrm>
          <a:off xmlns:a="http://schemas.openxmlformats.org/drawingml/2006/main" x="171450" y="1304925"/>
          <a:ext xmlns:a="http://schemas.openxmlformats.org/drawingml/2006/main" cx="8667750" cy="2857500"/>
        </p:xfrm>
        <a:graphic xmlns:a="http://schemas.openxmlformats.org/drawingml/2006/main">
          <a:graphicData uri="http://schemas.openxmlformats.org/drawingml/2006/table">
            <a:tbl>
              <a:tblPr>
                <a:tableStyleId>{855B57AB-33F6-4EFC-92FD-E4C6D41678EF}</a:tableStyleId>
              </a:tblPr>
              <a:tblGrid>
                <a:gridCol w="1074775"/>
                <a:gridCol w="3438575"/>
                <a:gridCol w="1609775"/>
                <a:gridCol w="2296975"/>
              </a:tblGrid>
              <a:tr h="4000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>
                          <a:latin typeface="Arial"/>
                          <a:ea typeface="Arial"/>
                          <a:cs typeface="Arial"/>
                        </a:rPr>
                        <a:t>Research Activity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>
                          <a:latin typeface="Arial"/>
                          <a:ea typeface="Arial"/>
                          <a:cs typeface="Arial"/>
                        </a:rPr>
                        <a:t>Title / evidence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>
                          <a:latin typeface="Arial"/>
                          <a:ea typeface="Arial"/>
                          <a:cs typeface="Arial"/>
                        </a:rPr>
                        <a:t>Journal / Conference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 b="1">
                          <a:latin typeface="Arial"/>
                          <a:ea typeface="Arial"/>
                          <a:cs typeface="Arial"/>
                        </a:rPr>
                        <a:t>Project prototype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AI-Based Smart Adaptive Network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Major Project Seminar-I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Prototype developed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 b="1">
                          <a:latin typeface="Arial"/>
                          <a:ea typeface="Arial"/>
                          <a:cs typeface="Arial"/>
                        </a:rPr>
                        <a:t>Research paper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No title or proof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Not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Status not confirmed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 b="1">
                          <a:latin typeface="Arial"/>
                          <a:ea typeface="Arial"/>
                          <a:cs typeface="Arial"/>
                        </a:rPr>
                        <a:t>Copyright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No certificate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Not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Status not confirmed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 b="1">
                          <a:latin typeface="Arial"/>
                          <a:ea typeface="Arial"/>
                          <a:cs typeface="Arial"/>
                        </a:rPr>
                        <a:t>Patent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No certificate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Not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88">
                          <a:latin typeface="Arial"/>
                          <a:ea typeface="Arial"/>
                          <a:cs typeface="Arial"/>
                        </a:rPr>
                        <a:t>Status not confirmed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6189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0" name="Google Shape;170;g40a09fbf8cc_1_24">
            <a:extLst xmlns:a="http://schemas.openxmlformats.org/drawingml/2006/main">
              <a:ext uri="{FF2B5EF4-FFF2-40B4-BE49-F238E27FC236}">
                <a16:creationId xmlns:a16="http://schemas.microsoft.com/office/drawing/2014/main" id="{7C4BC64D-B60F-4AC1-B36A-FD98D01A8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2fc6cc8ce048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" name="Google Shape;171;g40a09fbf8cc_1_24">
            <a:extLst xmlns:a="http://schemas.openxmlformats.org/drawingml/2006/main">
              <a:ext uri="{FF2B5EF4-FFF2-40B4-BE49-F238E27FC236}">
                <a16:creationId xmlns:a16="http://schemas.microsoft.com/office/drawing/2014/main" id="{A397A0C7-62D9-40E6-8F7B-A4AC0CA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Google Shape;172;g40a09fbf8cc_1_24">
            <a:extLst xmlns:a="http://schemas.openxmlformats.org/drawingml/2006/main">
              <a:ext uri="{FF2B5EF4-FFF2-40B4-BE49-F238E27FC236}">
                <a16:creationId xmlns:a16="http://schemas.microsoft.com/office/drawing/2014/main" id="{1A6CFEF7-4A84-4C50-BCEE-5A50BA14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g40a09fbf8cc_1_24">
            <a:extLst xmlns:a="http://schemas.openxmlformats.org/drawingml/2006/main">
              <a:ext uri="{FF2B5EF4-FFF2-40B4-BE49-F238E27FC236}">
                <a16:creationId xmlns:a16="http://schemas.microsoft.com/office/drawing/2014/main" id="{657CC597-8F4A-45BE-A516-367B9EF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Research Publications, IPR &amp; Supporting Evidence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" name="Google Shape;174;g40a09fbf8cc_1_24">
            <a:extLst xmlns:a="http://schemas.openxmlformats.org/drawingml/2006/main">
              <a:ext uri="{FF2B5EF4-FFF2-40B4-BE49-F238E27FC236}">
                <a16:creationId xmlns:a16="http://schemas.microsoft.com/office/drawing/2014/main" id="{DC923B55-7FC5-4FFB-8AC7-2B7E29D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Google Shape;175;g40a09fbf8cc_1_24">
            <a:extLst xmlns:a="http://schemas.openxmlformats.org/drawingml/2006/main">
              <a:ext uri="{FF2B5EF4-FFF2-40B4-BE49-F238E27FC236}">
                <a16:creationId xmlns:a16="http://schemas.microsoft.com/office/drawing/2014/main" id="{EE8C8620-2771-445F-857F-89C9437A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8C3EDC6-FC34-4AA3-A3EA-A95452B8B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2aaa7828e4a1e"/>
          <a:stretch xmlns:a="http://schemas.openxmlformats.org/drawingml/2006/main"/>
        </p:blipFill>
        <p:spPr>
          <a:xfrm xmlns:a="http://schemas.openxmlformats.org/drawingml/2006/main">
            <a:off x="324610" y="1314450"/>
            <a:ext cx="2494030" cy="2647950"/>
          </a:xfrm>
          <a:prstGeom xmlns:a="http://schemas.openxmlformats.org/drawingml/2006/main" prst="roundRect">
            <a:avLst>
              <a:gd name="adj" fmla="val 1799"/>
            </a:avLst>
          </a:prstGeom>
        </p:spPr>
      </p:pic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AF854BE-2D9E-42AF-ADAB-2F3CED30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909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Citizen SOS + voice report</a:t>
            </a:r>
          </a:p>
        </p:txBody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17F8452-94FF-41BD-A4A5-F66C7488C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fcc0a3f954a07"/>
          <a:stretch xmlns:a="http://schemas.openxmlformats.org/drawingml/2006/main"/>
        </p:blipFill>
        <p:spPr>
          <a:xfrm xmlns:a="http://schemas.openxmlformats.org/drawingml/2006/main">
            <a:off x="3238500" y="1943532"/>
            <a:ext cx="2667000" cy="1389786"/>
          </a:xfrm>
          <a:prstGeom xmlns:a="http://schemas.openxmlformats.org/drawingml/2006/main" prst="roundRect">
            <a:avLst>
              <a:gd name="adj" fmla="val 1799"/>
            </a:avLst>
          </a:prstGeom>
        </p:spPr>
      </p:pic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5D9A418-3544-45B1-9258-01A79ADF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Volunteer route guidance</a:t>
            </a:r>
          </a:p>
        </p:txBody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F4FA0C1-683D-4997-8306-9716ADD0A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886692e3944ea"/>
          <a:stretch xmlns:a="http://schemas.openxmlformats.org/drawingml/2006/main"/>
        </p:blipFill>
        <p:spPr>
          <a:xfrm xmlns:a="http://schemas.openxmlformats.org/drawingml/2006/main">
            <a:off x="6459032" y="1314450"/>
            <a:ext cx="2226685" cy="2647950"/>
          </a:xfrm>
          <a:prstGeom xmlns:a="http://schemas.openxmlformats.org/drawingml/2006/main" prst="roundRect">
            <a:avLst>
              <a:gd name="adj" fmla="val 1799"/>
            </a:avLst>
          </a:prstGeom>
        </p:spPr>
      </p:pic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3A10439-7073-4A34-B5F4-FB03E0A4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909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BLE relay screen</a:t>
            </a:r>
          </a:p>
        </p:txBody>
      </p:sp>
      <p:sp>
        <p:nvSpPr>
          <p:cNvPr id="182" name="Evidence status">
            <a:extLst xmlns:a="http://schemas.openxmlformats.org/drawingml/2006/main">
              <a:ext uri="{FF2B5EF4-FFF2-40B4-BE49-F238E27FC236}">
                <a16:creationId xmlns:a16="http://schemas.microsoft.com/office/drawing/2014/main" id="{AC44B022-4456-4985-8401-81C816D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62450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>
            <a:defPPr algn="l">
              <a:defRPr sz="938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38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38">
                <a:solidFill>
                  <a:srgbClr val="555555"/>
                </a:solidFill>
                <a:latin typeface="Arial"/>
                <a:ea typeface="Arial"/>
                <a:cs typeface="Arial"/>
              </a:rPr>
              <a:t>These are prototype screenshots. No publication, copyright, or patent certificate was supplied.</a:t>
            </a:r>
          </a:p>
        </p:txBody>
      </p:sp>
    </p:spTree>
    <p:extLst>
      <p:ext uri="{BB962C8B-B14F-4D97-AF65-F5344CB8AC3E}">
        <p14:creationId xmlns:p14="http://schemas.microsoft.com/office/powerpoint/2010/main" val="16124402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12">
            <a:extLst xmlns:a="http://schemas.openxmlformats.org/drawingml/2006/main">
              <a:ext uri="{FF2B5EF4-FFF2-40B4-BE49-F238E27FC236}">
                <a16:creationId xmlns:a16="http://schemas.microsoft.com/office/drawing/2014/main" id="{2EF6D7E1-32D2-462B-B5D0-94FB9768FD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763550" y="2092950"/>
            <a:ext cx="5616900" cy="9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sz="36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Thank You!</a:t>
            </a:r>
            <a:endParaRPr sz="36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81" name="Google Shape;181;p12">
            <a:extLst xmlns:a="http://schemas.openxmlformats.org/drawingml/2006/main">
              <a:ext uri="{FF2B5EF4-FFF2-40B4-BE49-F238E27FC236}">
                <a16:creationId xmlns:a16="http://schemas.microsoft.com/office/drawing/2014/main" id="{1B763E95-EBE9-4F46-9E30-45D830F45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f016fe68dd4e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2" name="Google Shape;182;p12">
            <a:extLst xmlns:a="http://schemas.openxmlformats.org/drawingml/2006/main">
              <a:ext uri="{FF2B5EF4-FFF2-40B4-BE49-F238E27FC236}">
                <a16:creationId xmlns:a16="http://schemas.microsoft.com/office/drawing/2014/main" id="{20CCDB94-D2E3-49F4-B030-A697D4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Google Shape;183;p12">
            <a:extLst xmlns:a="http://schemas.openxmlformats.org/drawingml/2006/main">
              <a:ext uri="{FF2B5EF4-FFF2-40B4-BE49-F238E27FC236}">
                <a16:creationId xmlns:a16="http://schemas.microsoft.com/office/drawing/2014/main" id="{00F3F056-70B5-41D0-8AF9-F20F85F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Google Shape;184;p12">
            <a:extLst xmlns:a="http://schemas.openxmlformats.org/drawingml/2006/main">
              <a:ext uri="{FF2B5EF4-FFF2-40B4-BE49-F238E27FC236}">
                <a16:creationId xmlns:a16="http://schemas.microsoft.com/office/drawing/2014/main" id="{6C154B23-36CC-49E1-867D-9AAA7D0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5" y="1721850"/>
            <a:ext cx="9122100" cy="169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587"/>
          </a:solidFill>
          <a:ln xmlns:a="http://schemas.openxmlformats.org/drawingml/2006/main"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Google Shape;185;p12">
            <a:extLst xmlns:a="http://schemas.openxmlformats.org/drawingml/2006/main">
              <a:ext uri="{FF2B5EF4-FFF2-40B4-BE49-F238E27FC236}">
                <a16:creationId xmlns:a16="http://schemas.microsoft.com/office/drawing/2014/main" id="{5177BA44-7F2C-446A-987C-A5439C6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550" y="2092950"/>
            <a:ext cx="5616900" cy="9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Thank You!</a:t>
            </a: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6" name="Google Shape;186;p12">
            <a:extLst xmlns:a="http://schemas.openxmlformats.org/drawingml/2006/main">
              <a:ext uri="{FF2B5EF4-FFF2-40B4-BE49-F238E27FC236}">
                <a16:creationId xmlns:a16="http://schemas.microsoft.com/office/drawing/2014/main" id="{5E574DA9-3402-4EC1-A696-CD38BEE5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933975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2026-10-08T14:40:56.9520000Z</dcterms:created>
  <dcterms:modified xsi:type="dcterms:W3CDTF">2026-10-08T14:40:56.9520000Z</dcterms:modified>
</coreProperties>
</file>